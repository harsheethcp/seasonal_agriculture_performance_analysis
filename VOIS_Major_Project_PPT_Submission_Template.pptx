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0" d="100"/>
          <a:sy n="70" d="100"/>
        </p:scale>
        <p:origin x="654"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59306" y="3583913"/>
            <a:ext cx="6482687" cy="1288337"/>
          </a:xfrm>
        </p:spPr>
        <p:txBody>
          <a:bodyPr vert="horz" lIns="91440" tIns="45720" rIns="91440" bIns="45720" rtlCol="0" anchor="t">
            <a:normAutofit/>
          </a:bodyPr>
          <a:lstStyle/>
          <a:p>
            <a:pPr algn="just"/>
            <a:r>
              <a:rPr lang="en-US" dirty="0">
                <a:solidFill>
                  <a:schemeClr val="tx1"/>
                </a:solidFill>
              </a:rPr>
              <a:t>Student Name - Harsheet Chander Pal</a:t>
            </a:r>
          </a:p>
          <a:p>
            <a:pPr algn="just"/>
            <a:r>
              <a:rPr lang="en-US" dirty="0">
                <a:solidFill>
                  <a:schemeClr val="tx1"/>
                </a:solidFill>
              </a:rPr>
              <a:t>College Name - Kamla Nehru Institute of Technology</a:t>
            </a:r>
          </a:p>
          <a:p>
            <a:pPr algn="just"/>
            <a:r>
              <a:rPr lang="en-US" dirty="0">
                <a:solidFill>
                  <a:schemeClr val="tx1"/>
                </a:solidFill>
              </a:rPr>
              <a:t>AICTE STU ID - STU6a38dc274a4ad1782111271</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59306" y="2794001"/>
            <a:ext cx="10686198" cy="764275"/>
          </a:xfrm>
        </p:spPr>
        <p:txBody>
          <a:bodyPr>
            <a:normAutofit fontScale="90000"/>
          </a:bodyPr>
          <a:lstStyle/>
          <a:p>
            <a:pPr algn="just"/>
            <a:r>
              <a:rPr lang="en-GB" sz="3200" dirty="0"/>
              <a:t>Project Title - </a:t>
            </a:r>
            <a:r>
              <a:rPr lang="en-US" sz="3600" b="1" dirty="0"/>
              <a:t>Seasonal Agriculture Performance Analysis</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357223"/>
            <a:ext cx="7319727" cy="4854715"/>
          </a:xfrm>
        </p:spPr>
        <p:txBody>
          <a:bodyPr vert="horz" lIns="91440" tIns="45720" rIns="91440" bIns="45720" rtlCol="0" anchor="t">
            <a:noAutofit/>
          </a:bodyPr>
          <a:lstStyle/>
          <a:p>
            <a:pPr algn="just">
              <a:lnSpc>
                <a:spcPct val="170000"/>
              </a:lnSpc>
            </a:pPr>
            <a:r>
              <a:rPr lang="en-US" sz="1600" b="1" dirty="0">
                <a:solidFill>
                  <a:schemeClr val="tx1"/>
                </a:solidFil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600" b="1" dirty="0">
              <a:solidFill>
                <a:schemeClr val="tx1"/>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Rectangle 1">
            <a:extLst>
              <a:ext uri="{FF2B5EF4-FFF2-40B4-BE49-F238E27FC236}">
                <a16:creationId xmlns:a16="http://schemas.microsoft.com/office/drawing/2014/main" id="{45E9A9C0-E4EF-6861-7DDD-D391A2F500A5}"/>
              </a:ext>
            </a:extLst>
          </p:cNvPr>
          <p:cNvSpPr>
            <a:spLocks noGrp="1" noChangeArrowheads="1"/>
          </p:cNvSpPr>
          <p:nvPr>
            <p:ph type="title"/>
          </p:nvPr>
        </p:nvSpPr>
        <p:spPr bwMode="auto">
          <a:xfrm>
            <a:off x="675957" y="674667"/>
            <a:ext cx="10856401" cy="5770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tabLst/>
            </a:pPr>
            <a:r>
              <a:rPr lang="en-US" sz="3600" dirty="0">
                <a:latin typeface="+mn-lt"/>
              </a:rPr>
              <a:t>Project Description</a:t>
            </a:r>
            <a:br>
              <a:rPr kumimoji="0" lang="en-US" altLang="en-US" sz="1600" b="1" i="0" u="none" strike="noStrike" cap="none" normalizeH="0" baseline="0" dirty="0">
                <a:ln>
                  <a:noFill/>
                </a:ln>
                <a:solidFill>
                  <a:schemeClr val="tx1"/>
                </a:solidFill>
                <a:effectLst/>
                <a:latin typeface="+mn-lt"/>
              </a:rPr>
            </a:br>
            <a:br>
              <a:rPr kumimoji="0" lang="en-US" altLang="en-US" sz="1600" b="1" i="0" u="none" strike="noStrike" cap="none" normalizeH="0" baseline="0" dirty="0">
                <a:ln>
                  <a:noFill/>
                </a:ln>
                <a:solidFill>
                  <a:schemeClr val="tx1"/>
                </a:solidFill>
                <a:effectLst/>
                <a:latin typeface="+mn-lt"/>
              </a:rPr>
            </a:br>
            <a:r>
              <a:rPr kumimoji="0" lang="en-US" altLang="en-US" sz="1600" b="1" i="0" u="none" strike="noStrike" cap="none" normalizeH="0" baseline="0" dirty="0">
                <a:ln>
                  <a:noFill/>
                </a:ln>
                <a:solidFill>
                  <a:schemeClr val="tx1"/>
                </a:solidFill>
                <a:effectLst/>
                <a:latin typeface="+mn-lt"/>
              </a:rPr>
              <a:t>Title:</a:t>
            </a:r>
            <a:r>
              <a:rPr kumimoji="0" lang="en-US" altLang="en-US" sz="1600" b="0" i="0" u="none" strike="noStrike" cap="none" normalizeH="0" baseline="0" dirty="0">
                <a:ln>
                  <a:noFill/>
                </a:ln>
                <a:solidFill>
                  <a:schemeClr val="tx1"/>
                </a:solidFill>
                <a:effectLst/>
                <a:latin typeface="+mn-lt"/>
              </a:rPr>
              <a:t> Seasonal Agriculture Performance Analysis</a:t>
            </a:r>
            <a:br>
              <a:rPr kumimoji="0" lang="en-US" altLang="en-US" sz="1600" b="0" i="0" u="none" strike="noStrike" cap="none" normalizeH="0" baseline="0" dirty="0">
                <a:ln>
                  <a:noFill/>
                </a:ln>
                <a:solidFill>
                  <a:schemeClr val="tx1"/>
                </a:solidFill>
                <a:effectLst/>
                <a:latin typeface="+mn-lt"/>
              </a:rPr>
            </a:br>
            <a:r>
              <a:rPr kumimoji="0" lang="en-US" altLang="en-US" sz="1600" b="1" i="0" u="none" strike="noStrike" cap="none" normalizeH="0" baseline="0" dirty="0">
                <a:ln>
                  <a:noFill/>
                </a:ln>
                <a:solidFill>
                  <a:schemeClr val="tx1"/>
                </a:solidFill>
                <a:effectLst/>
                <a:latin typeface="+mn-lt"/>
              </a:rPr>
              <a:t>Domain:</a:t>
            </a:r>
            <a:r>
              <a:rPr kumimoji="0" lang="en-US" altLang="en-US" sz="1600" b="0" i="0" u="none" strike="noStrike" cap="none" normalizeH="0" baseline="0" dirty="0">
                <a:ln>
                  <a:noFill/>
                </a:ln>
                <a:solidFill>
                  <a:schemeClr val="tx1"/>
                </a:solidFill>
                <a:effectLst/>
                <a:latin typeface="+mn-lt"/>
              </a:rPr>
              <a:t> Agricultural Data Analytics</a:t>
            </a:r>
            <a:br>
              <a:rPr kumimoji="0" lang="en-US" altLang="en-US" sz="1600" b="0" i="0" u="none" strike="noStrike" cap="none" normalizeH="0" baseline="0" dirty="0">
                <a:ln>
                  <a:noFill/>
                </a:ln>
                <a:solidFill>
                  <a:schemeClr val="tx1"/>
                </a:solidFill>
                <a:effectLst/>
                <a:latin typeface="+mn-lt"/>
              </a:rPr>
            </a:br>
            <a:br>
              <a:rPr kumimoji="0" lang="en-US" altLang="en-US" sz="1600" b="0" i="0" u="none" strike="noStrike" cap="none" normalizeH="0" baseline="0" dirty="0">
                <a:ln>
                  <a:noFill/>
                </a:ln>
                <a:solidFill>
                  <a:schemeClr val="tx1"/>
                </a:solidFill>
                <a:effectLst/>
                <a:latin typeface="+mn-lt"/>
              </a:rPr>
            </a:br>
            <a:r>
              <a:rPr kumimoji="0" lang="en-US" altLang="en-US" sz="1600" b="1" i="0" u="none" strike="noStrike" cap="none" normalizeH="0" baseline="0" dirty="0">
                <a:ln>
                  <a:noFill/>
                </a:ln>
                <a:solidFill>
                  <a:schemeClr val="tx1"/>
                </a:solidFill>
                <a:effectLst/>
                <a:latin typeface="+mn-lt"/>
              </a:rPr>
              <a:t>Overview:</a:t>
            </a:r>
            <a:br>
              <a:rPr kumimoji="0" lang="en-US" altLang="en-US" sz="1600" b="0" i="0" u="none" strike="noStrike" cap="none" normalizeH="0" baseline="0" dirty="0">
                <a:ln>
                  <a:noFill/>
                </a:ln>
                <a:solidFill>
                  <a:schemeClr val="tx1"/>
                </a:solidFill>
                <a:effectLst/>
                <a:latin typeface="+mn-lt"/>
              </a:rPr>
            </a:br>
            <a:r>
              <a:rPr kumimoji="0" lang="en-US" altLang="en-US" sz="1600" b="0" i="0" u="none" strike="noStrike" cap="none" normalizeH="0" baseline="0" dirty="0">
                <a:ln>
                  <a:noFill/>
                </a:ln>
                <a:solidFill>
                  <a:schemeClr val="tx1"/>
                </a:solidFill>
                <a:effectLst/>
                <a:latin typeface="+mn-lt"/>
              </a:rPr>
              <a:t>This project delivers a comprehensive, data-driven investigation into how agricultural performance—spanning crop productivity, financial returns, resource consumption, and environmental risks—varies across Kharif, Rabi, and Zaid farming seasons. Utilizing a farm-level dataset of 4,000 observations across 8 major agricultural states, the analysis evaluates key seasonal patterns to provide evidence-based insights for optimizing seasonal farm management. </a:t>
            </a:r>
            <a:br>
              <a:rPr kumimoji="0" lang="en-US" altLang="en-US" sz="1600" b="0" i="0" u="none" strike="noStrike" cap="none" normalizeH="0" baseline="0" dirty="0">
                <a:ln>
                  <a:noFill/>
                </a:ln>
                <a:solidFill>
                  <a:schemeClr val="tx1"/>
                </a:solidFill>
                <a:effectLst/>
                <a:latin typeface="+mn-lt"/>
              </a:rPr>
            </a:br>
            <a:br>
              <a:rPr kumimoji="0" lang="en-US" altLang="en-US" sz="1600" b="0" i="0" u="none" strike="noStrike" cap="none" normalizeH="0" baseline="0" dirty="0">
                <a:ln>
                  <a:noFill/>
                </a:ln>
                <a:solidFill>
                  <a:schemeClr val="tx1"/>
                </a:solidFill>
                <a:effectLst/>
                <a:latin typeface="+mn-lt"/>
              </a:rPr>
            </a:br>
            <a:r>
              <a:rPr kumimoji="0" lang="en-US" altLang="en-US" sz="1600" b="1" i="0" u="none" strike="noStrike" cap="none" normalizeH="0" baseline="0" dirty="0">
                <a:ln>
                  <a:noFill/>
                </a:ln>
                <a:solidFill>
                  <a:schemeClr val="tx1"/>
                </a:solidFill>
                <a:effectLst/>
                <a:latin typeface="+mn-lt"/>
              </a:rPr>
              <a:t>Key Project Highlights:</a:t>
            </a:r>
            <a:br>
              <a:rPr kumimoji="0" lang="en-US" altLang="en-US" sz="1600" b="0" i="0" u="none" strike="noStrike" cap="none" normalizeH="0" baseline="0" dirty="0">
                <a:ln>
                  <a:noFill/>
                </a:ln>
                <a:solidFill>
                  <a:schemeClr val="tx1"/>
                </a:solidFill>
                <a:effectLst/>
                <a:latin typeface="+mn-lt"/>
              </a:rPr>
            </a:br>
            <a:r>
              <a:rPr kumimoji="0" lang="en-US" altLang="en-US" sz="1600" b="1" i="0" u="none" strike="noStrike" cap="none" normalizeH="0" baseline="0" dirty="0">
                <a:ln>
                  <a:noFill/>
                </a:ln>
                <a:solidFill>
                  <a:schemeClr val="tx1"/>
                </a:solidFill>
                <a:effectLst/>
                <a:latin typeface="+mn-lt"/>
              </a:rPr>
              <a:t>Data Cleaning &amp; Imputation:</a:t>
            </a:r>
            <a:r>
              <a:rPr kumimoji="0" lang="en-US" altLang="en-US" sz="1600" b="0" i="0" u="none" strike="noStrike" cap="none" normalizeH="0" baseline="0" dirty="0">
                <a:ln>
                  <a:noFill/>
                </a:ln>
                <a:solidFill>
                  <a:schemeClr val="tx1"/>
                </a:solidFill>
                <a:effectLst/>
                <a:latin typeface="+mn-lt"/>
              </a:rPr>
              <a:t> Addressed missing values across environmental and yield parameters using group-wise median imputation based on season and crop types. </a:t>
            </a:r>
            <a:br>
              <a:rPr kumimoji="0" lang="en-US" altLang="en-US" sz="1600" b="0" i="0" u="none" strike="noStrike" cap="none" normalizeH="0" baseline="0" dirty="0">
                <a:ln>
                  <a:noFill/>
                </a:ln>
                <a:solidFill>
                  <a:schemeClr val="tx1"/>
                </a:solidFill>
                <a:effectLst/>
                <a:latin typeface="+mn-lt"/>
              </a:rPr>
            </a:br>
            <a:r>
              <a:rPr kumimoji="0" lang="en-US" altLang="en-US" sz="1600" b="1" i="0" u="none" strike="noStrike" cap="none" normalizeH="0" baseline="0" dirty="0">
                <a:ln>
                  <a:noFill/>
                </a:ln>
                <a:solidFill>
                  <a:schemeClr val="tx1"/>
                </a:solidFill>
                <a:effectLst/>
                <a:latin typeface="+mn-lt"/>
              </a:rPr>
              <a:t>Statistical &amp; Visual Analytics:</a:t>
            </a:r>
            <a:r>
              <a:rPr kumimoji="0" lang="en-US" altLang="en-US" sz="1600" b="0" i="0" u="none" strike="noStrike" cap="none" normalizeH="0" baseline="0" dirty="0">
                <a:ln>
                  <a:noFill/>
                </a:ln>
                <a:solidFill>
                  <a:schemeClr val="tx1"/>
                </a:solidFill>
                <a:effectLst/>
                <a:latin typeface="+mn-lt"/>
              </a:rPr>
              <a:t> Conducted rigorous univariate, bivariate, and multivariate analysis to identify core drivers of yield and profitability. </a:t>
            </a:r>
            <a:br>
              <a:rPr kumimoji="0" lang="en-US" altLang="en-US" sz="1600" b="0" i="0" u="none" strike="noStrike" cap="none" normalizeH="0" baseline="0" dirty="0">
                <a:ln>
                  <a:noFill/>
                </a:ln>
                <a:solidFill>
                  <a:schemeClr val="tx1"/>
                </a:solidFill>
                <a:effectLst/>
                <a:latin typeface="+mn-lt"/>
              </a:rPr>
            </a:br>
            <a:r>
              <a:rPr kumimoji="0" lang="en-US" altLang="en-US" sz="1600" b="1" i="0" u="none" strike="noStrike" cap="none" normalizeH="0" baseline="0" dirty="0">
                <a:ln>
                  <a:noFill/>
                </a:ln>
                <a:solidFill>
                  <a:schemeClr val="tx1"/>
                </a:solidFill>
                <a:effectLst/>
                <a:latin typeface="+mn-lt"/>
              </a:rPr>
              <a:t>Core Findings:</a:t>
            </a:r>
            <a:r>
              <a:rPr kumimoji="0" lang="en-US" altLang="en-US" sz="1600" b="0" i="0" u="none" strike="noStrike" cap="none" normalizeH="0" baseline="0" dirty="0">
                <a:ln>
                  <a:noFill/>
                </a:ln>
                <a:solidFill>
                  <a:schemeClr val="tx1"/>
                </a:solidFill>
                <a:effectLst/>
                <a:latin typeface="+mn-lt"/>
              </a:rPr>
              <a:t> Highlighted peak productivity in Kharif driven by monsoonal rainfall (</a:t>
            </a:r>
            <a:r>
              <a:rPr kumimoji="0" lang="en-US" altLang="en-US" sz="1600" b="1" i="0" u="none" strike="noStrike" cap="none" normalizeH="0" baseline="0" dirty="0">
                <a:ln>
                  <a:noFill/>
                </a:ln>
                <a:solidFill>
                  <a:schemeClr val="tx1"/>
                </a:solidFill>
                <a:effectLst/>
                <a:latin typeface="+mn-lt"/>
              </a:rPr>
              <a:t>5.63 </a:t>
            </a:r>
            <a:r>
              <a:rPr kumimoji="0" lang="en-US" altLang="en-US" sz="1600" b="1" i="0" u="none" strike="noStrike" cap="none" normalizeH="0" baseline="0" dirty="0" err="1">
                <a:ln>
                  <a:noFill/>
                </a:ln>
                <a:solidFill>
                  <a:schemeClr val="tx1"/>
                </a:solidFill>
                <a:effectLst/>
                <a:latin typeface="+mn-lt"/>
              </a:rPr>
              <a:t>Tonnes</a:t>
            </a:r>
            <a:r>
              <a:rPr kumimoji="0" lang="en-US" altLang="en-US" sz="1600" b="1" i="0" u="none" strike="noStrike" cap="none" normalizeH="0" baseline="0" dirty="0">
                <a:ln>
                  <a:noFill/>
                </a:ln>
                <a:solidFill>
                  <a:schemeClr val="tx1"/>
                </a:solidFill>
                <a:effectLst/>
                <a:latin typeface="+mn-lt"/>
              </a:rPr>
              <a:t>/Ha</a:t>
            </a:r>
            <a:r>
              <a:rPr kumimoji="0" lang="en-US" altLang="en-US" sz="1600" b="0" i="0" u="none" strike="noStrike" cap="none" normalizeH="0" baseline="0" dirty="0">
                <a:ln>
                  <a:noFill/>
                </a:ln>
                <a:solidFill>
                  <a:schemeClr val="tx1"/>
                </a:solidFill>
                <a:effectLst/>
                <a:latin typeface="+mn-lt"/>
              </a:rPr>
              <a:t>), identified seasonal losses in off-season Zaid farming (</a:t>
            </a:r>
            <a:r>
              <a:rPr kumimoji="0" lang="en-US" altLang="en-US" sz="1600" b="1" i="0" u="none" strike="noStrike" cap="none" normalizeH="0" baseline="0" dirty="0">
                <a:ln>
                  <a:noFill/>
                </a:ln>
                <a:solidFill>
                  <a:schemeClr val="tx1"/>
                </a:solidFill>
                <a:effectLst/>
                <a:latin typeface="+mn-lt"/>
              </a:rPr>
              <a:t>-₹24,804.82</a:t>
            </a:r>
            <a:r>
              <a:rPr kumimoji="0" lang="en-US" altLang="en-US" sz="1600" b="0" i="0" u="none" strike="noStrike" cap="none" normalizeH="0" baseline="0" dirty="0">
                <a:ln>
                  <a:noFill/>
                </a:ln>
                <a:solidFill>
                  <a:schemeClr val="tx1"/>
                </a:solidFill>
                <a:effectLst/>
                <a:latin typeface="+mn-lt"/>
              </a:rPr>
              <a:t> average profit), and established the superior efficiency of drip irrigation (</a:t>
            </a:r>
            <a:r>
              <a:rPr kumimoji="0" lang="en-US" altLang="en-US" sz="1600" b="1" i="0" u="none" strike="noStrike" cap="none" normalizeH="0" baseline="0" dirty="0">
                <a:ln>
                  <a:noFill/>
                </a:ln>
                <a:solidFill>
                  <a:schemeClr val="tx1"/>
                </a:solidFill>
                <a:effectLst/>
                <a:latin typeface="+mn-lt"/>
              </a:rPr>
              <a:t>6.27 t / 1000m³</a:t>
            </a:r>
            <a:r>
              <a:rPr kumimoji="0" lang="en-US" altLang="en-US" sz="1600" b="0" i="0" u="none" strike="noStrike" cap="none" normalizeH="0" baseline="0" dirty="0">
                <a:ln>
                  <a:noFill/>
                </a:ln>
                <a:solidFill>
                  <a:schemeClr val="tx1"/>
                </a:solidFill>
                <a:effectLst/>
                <a:latin typeface="+mn-lt"/>
              </a:rPr>
              <a:t>) over flood irrigation. </a:t>
            </a:r>
            <a:br>
              <a:rPr kumimoji="0" lang="en-US" altLang="en-US" sz="1600" b="0" i="0" u="none" strike="noStrike" cap="none" normalizeH="0" baseline="0" dirty="0">
                <a:ln>
                  <a:noFill/>
                </a:ln>
                <a:solidFill>
                  <a:schemeClr val="tx1"/>
                </a:solidFill>
                <a:effectLst/>
                <a:latin typeface="+mn-lt"/>
              </a:rPr>
            </a:br>
            <a:r>
              <a:rPr kumimoji="0" lang="en-US" altLang="en-US" sz="1600" b="1" i="0" u="none" strike="noStrike" cap="none" normalizeH="0" baseline="0" dirty="0">
                <a:ln>
                  <a:noFill/>
                </a:ln>
                <a:solidFill>
                  <a:schemeClr val="tx1"/>
                </a:solidFill>
                <a:effectLst/>
                <a:latin typeface="+mn-lt"/>
              </a:rPr>
              <a:t>Actionable Outcomes:</a:t>
            </a:r>
            <a:r>
              <a:rPr kumimoji="0" lang="en-US" altLang="en-US" sz="1600" b="0" i="0" u="none" strike="noStrike" cap="none" normalizeH="0" baseline="0" dirty="0">
                <a:ln>
                  <a:noFill/>
                </a:ln>
                <a:solidFill>
                  <a:schemeClr val="tx1"/>
                </a:solidFill>
                <a:effectLst/>
                <a:latin typeface="+mn-lt"/>
              </a:rPr>
              <a:t> Derived 8 structured insights and provided practical recommendations for micro-irrigation adoption, pest forecasting, and season-specific crop planning.</a:t>
            </a:r>
            <a:br>
              <a:rPr kumimoji="0" lang="en-US" altLang="en-US" sz="1600" b="0" i="0" u="none" strike="noStrike" cap="none" normalizeH="0" baseline="0" dirty="0">
                <a:ln>
                  <a:noFill/>
                </a:ln>
                <a:solidFill>
                  <a:schemeClr val="tx1"/>
                </a:solidFill>
                <a:effectLst/>
                <a:latin typeface="+mn-lt"/>
              </a:rPr>
            </a:br>
            <a:endParaRPr kumimoji="0" lang="en-US" altLang="en-US" sz="16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7" name="Rectangle 3">
            <a:extLst>
              <a:ext uri="{FF2B5EF4-FFF2-40B4-BE49-F238E27FC236}">
                <a16:creationId xmlns:a16="http://schemas.microsoft.com/office/drawing/2014/main" id="{A9687C6B-84C4-A5AE-221A-A1596CEA9675}"/>
              </a:ext>
            </a:extLst>
          </p:cNvPr>
          <p:cNvSpPr>
            <a:spLocks noGrp="1" noChangeArrowheads="1"/>
          </p:cNvSpPr>
          <p:nvPr>
            <p:ph type="body" sz="quarter" idx="12"/>
          </p:nvPr>
        </p:nvSpPr>
        <p:spPr bwMode="auto">
          <a:xfrm>
            <a:off x="721359" y="1548854"/>
            <a:ext cx="10046070" cy="5309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Farmers &amp; Agricultural Producers:</a:t>
            </a:r>
            <a:r>
              <a:rPr kumimoji="0" lang="en-US" altLang="en-US" sz="1800" b="0" i="0" u="none" strike="noStrike" cap="none" normalizeH="0" baseline="0" dirty="0">
                <a:ln>
                  <a:noFill/>
                </a:ln>
                <a:solidFill>
                  <a:schemeClr val="tx1"/>
                </a:solidFill>
                <a:effectLst/>
              </a:rPr>
              <a:t> Benefit from data-backed guidance on optimal seasonal crop selection, water-efficient irrigation methods, and pest risk awareness to maximize crop yield and prevent seasonal losses.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Agricultural Extension Officers &amp; Advisory Services:</a:t>
            </a:r>
            <a:r>
              <a:rPr kumimoji="0" lang="en-US" altLang="en-US" sz="1800" b="0" i="0" u="none" strike="noStrike" cap="none" normalizeH="0" baseline="0" dirty="0">
                <a:ln>
                  <a:noFill/>
                </a:ln>
                <a:solidFill>
                  <a:schemeClr val="tx1"/>
                </a:solidFill>
                <a:effectLst/>
              </a:rPr>
              <a:t> Utilize seasonal performance benchmarks and regional profitability patterns to provide evidence-based recommendations and technical support to local farming communities.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Policy Makers &amp; Government Agricultural Departments:</a:t>
            </a:r>
            <a:r>
              <a:rPr kumimoji="0" lang="en-US" altLang="en-US" sz="1800" b="0" i="0" u="none" strike="noStrike" cap="none" normalizeH="0" baseline="0" dirty="0">
                <a:ln>
                  <a:noFill/>
                </a:ln>
                <a:solidFill>
                  <a:schemeClr val="tx1"/>
                </a:solidFill>
                <a:effectLst/>
              </a:rPr>
              <a:t> Rely on empirical insights—such as state-level profit disparities and seasonal water usage metrics—to design targeted subsidy programs, micro-irrigation schemes, and regional infrastructure investments.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Agri-Business &amp; Supply Chain Managers:</a:t>
            </a:r>
            <a:r>
              <a:rPr kumimoji="0" lang="en-US" altLang="en-US" sz="1800" b="0" i="0" u="none" strike="noStrike" cap="none" normalizeH="0" baseline="0" dirty="0">
                <a:ln>
                  <a:noFill/>
                </a:ln>
                <a:solidFill>
                  <a:schemeClr val="tx1"/>
                </a:solidFill>
                <a:effectLst/>
              </a:rPr>
              <a:t> Use crop-specific seasonal production totals and price trend data to optimize crop procurement strategies, logistics, storage allocation, and market distribution schedules.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Data Analysts &amp; Academic Researchers:</a:t>
            </a:r>
            <a:r>
              <a:rPr kumimoji="0" lang="en-US" altLang="en-US" sz="1800" b="0" i="0" u="none" strike="noStrike" cap="none" normalizeH="0" baseline="0" dirty="0">
                <a:ln>
                  <a:noFill/>
                </a:ln>
                <a:solidFill>
                  <a:schemeClr val="tx1"/>
                </a:solidFill>
                <a:effectLst/>
              </a:rPr>
              <a:t> Build upon the clean, structured dataset and exploratory findings to develop predictive machine learning models and micro-climatic crop forecasting tools.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4F0F6FCB-C4E0-4AE4-120C-FD4E31B64EC2}"/>
              </a:ext>
            </a:extLst>
          </p:cNvPr>
          <p:cNvSpPr>
            <a:spLocks noGrp="1" noChangeArrowheads="1"/>
          </p:cNvSpPr>
          <p:nvPr>
            <p:ph type="body" sz="quarter" idx="12"/>
          </p:nvPr>
        </p:nvSpPr>
        <p:spPr bwMode="auto">
          <a:xfrm>
            <a:off x="1528549" y="1278384"/>
            <a:ext cx="10384027"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Google Sans Text"/>
              </a:rPr>
              <a:t>Development Environment:</a:t>
            </a:r>
            <a:endParaRPr kumimoji="0" lang="en-US" altLang="en-US" sz="1800" b="0" i="0" u="none" strike="noStrike" cap="none" normalizeH="0" baseline="0" dirty="0">
              <a:ln>
                <a:noFill/>
              </a:ln>
              <a:solidFill>
                <a:schemeClr val="tx1"/>
              </a:solidFill>
              <a:effectLst/>
              <a:latin typeface="Google Sans Text"/>
            </a:endParaRPr>
          </a:p>
          <a:p>
            <a:pPr defTabSz="914400" eaLnBrk="0" fontAlgn="base" hangingPunct="0">
              <a:lnSpc>
                <a:spcPct val="10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Google Sans Text"/>
              </a:rPr>
              <a:t> Google </a:t>
            </a:r>
            <a:r>
              <a:rPr kumimoji="0" lang="en-US" altLang="en-US" sz="1800" b="1" i="0" u="none" strike="noStrike" cap="none" normalizeH="0" baseline="0" dirty="0" err="1">
                <a:ln>
                  <a:noFill/>
                </a:ln>
                <a:solidFill>
                  <a:schemeClr val="tx1"/>
                </a:solidFill>
                <a:effectLst/>
                <a:latin typeface="Google Sans Text"/>
              </a:rPr>
              <a:t>Colab</a:t>
            </a:r>
            <a:r>
              <a:rPr kumimoji="0" lang="en-US" altLang="en-US" sz="1800" b="1" i="0" u="none" strike="noStrike" cap="none" normalizeH="0" baseline="0" dirty="0">
                <a:ln>
                  <a:noFill/>
                </a:ln>
                <a:solidFill>
                  <a:schemeClr val="tx1"/>
                </a:solidFill>
                <a:effectLst/>
                <a:latin typeface="Google Sans Text"/>
              </a:rPr>
              <a:t> (</a:t>
            </a:r>
            <a:r>
              <a:rPr kumimoji="0" lang="en-US" altLang="en-US" sz="1800" b="1" i="0" u="none" strike="noStrike" cap="none" normalizeH="0" baseline="0" dirty="0" err="1">
                <a:ln>
                  <a:noFill/>
                </a:ln>
                <a:solidFill>
                  <a:schemeClr val="tx1"/>
                </a:solidFill>
                <a:effectLst/>
                <a:latin typeface="Google Sans Text"/>
              </a:rPr>
              <a:t>Jupyter</a:t>
            </a:r>
            <a:r>
              <a:rPr kumimoji="0" lang="en-US" altLang="en-US" sz="1800" b="1" i="0" u="none" strike="noStrike" cap="none" normalizeH="0" baseline="0" dirty="0">
                <a:ln>
                  <a:noFill/>
                </a:ln>
                <a:solidFill>
                  <a:schemeClr val="tx1"/>
                </a:solidFill>
                <a:effectLst/>
                <a:latin typeface="Google Sans Text"/>
              </a:rPr>
              <a:t> Notebook):</a:t>
            </a:r>
            <a:r>
              <a:rPr kumimoji="0" lang="en-US" altLang="en-US" sz="1800" b="0" i="0" u="none" strike="noStrike" cap="none" normalizeH="0" baseline="0" dirty="0">
                <a:ln>
                  <a:noFill/>
                </a:ln>
                <a:solidFill>
                  <a:schemeClr val="tx1"/>
                </a:solidFill>
                <a:effectLst/>
                <a:latin typeface="Google Sans Text"/>
              </a:rPr>
              <a:t> Interactive cloud-based environment used for step-by-step code execution, data processing, and document formatting.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Google Sans Text"/>
              </a:rPr>
              <a:t>Programming Language:</a:t>
            </a:r>
            <a:endParaRPr kumimoji="0" lang="en-US" altLang="en-US" sz="18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Google Sans Text"/>
              </a:rPr>
              <a:t>Python 3:</a:t>
            </a:r>
            <a:r>
              <a:rPr kumimoji="0" lang="en-US" altLang="en-US" sz="1800" b="0" i="0" u="none" strike="noStrike" cap="none" normalizeH="0" baseline="0" dirty="0">
                <a:ln>
                  <a:noFill/>
                </a:ln>
                <a:solidFill>
                  <a:schemeClr val="tx1"/>
                </a:solidFill>
                <a:effectLst/>
                <a:latin typeface="Google Sans Text"/>
              </a:rPr>
              <a:t> Core programming language utilized for data manipulation, statistical analysis, and visual graphics generation.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Google Sans Text"/>
              </a:rPr>
              <a:t>Data Processing &amp; Analytics Libraries:</a:t>
            </a:r>
            <a:endParaRPr kumimoji="0" lang="en-US" altLang="en-US" sz="18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Google Sans Text"/>
              </a:rPr>
              <a:t>Pandas:</a:t>
            </a:r>
            <a:r>
              <a:rPr kumimoji="0" lang="en-US" altLang="en-US" sz="1800" b="0" i="0" u="none" strike="noStrike" cap="none" normalizeH="0" baseline="0" dirty="0">
                <a:ln>
                  <a:noFill/>
                </a:ln>
                <a:solidFill>
                  <a:schemeClr val="tx1"/>
                </a:solidFill>
                <a:effectLst/>
                <a:latin typeface="Google Sans Text"/>
              </a:rPr>
              <a:t> Used for dataset loading, group-wise median missing value imputation, seasonal aggregation, and tabular data transformation.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Google Sans Text"/>
              </a:rPr>
              <a:t>NumPy:</a:t>
            </a:r>
            <a:r>
              <a:rPr kumimoji="0" lang="en-US" altLang="en-US" sz="1800" b="0" i="0" u="none" strike="noStrike" cap="none" normalizeH="0" baseline="0" dirty="0">
                <a:ln>
                  <a:noFill/>
                </a:ln>
                <a:solidFill>
                  <a:schemeClr val="tx1"/>
                </a:solidFill>
                <a:effectLst/>
                <a:latin typeface="Google Sans Text"/>
              </a:rPr>
              <a:t> Used for fast mathematical computations, quantitative calculations, and statistical array operations.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Google Sans Text"/>
              </a:rPr>
              <a:t>Data Visualization Libraries:</a:t>
            </a:r>
            <a:endParaRPr kumimoji="0" lang="en-US" altLang="en-US" sz="1800" b="0" i="0" u="none" strike="noStrike" cap="none" normalizeH="0" baseline="0" dirty="0">
              <a:ln>
                <a:noFill/>
              </a:ln>
              <a:solidFill>
                <a:schemeClr val="tx1"/>
              </a:solidFill>
              <a:effectLst/>
              <a:latin typeface="Google Sans Tex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Google Sans Text"/>
              </a:rPr>
              <a:t>Matplotlib:</a:t>
            </a:r>
            <a:r>
              <a:rPr kumimoji="0" lang="en-US" altLang="en-US" sz="1800" b="0" i="0" u="none" strike="noStrike" cap="none" normalizeH="0" baseline="0" dirty="0">
                <a:ln>
                  <a:noFill/>
                </a:ln>
                <a:solidFill>
                  <a:schemeClr val="tx1"/>
                </a:solidFill>
                <a:effectLst/>
                <a:latin typeface="Google Sans Text"/>
              </a:rPr>
              <a:t> Primary plotting library used to construct univariate, bivariate, and multivariate layout structures, custom figure sizes, and axis formatting.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Google Sans Text"/>
              </a:rPr>
              <a:t>Seaborn:</a:t>
            </a:r>
            <a:r>
              <a:rPr kumimoji="0" lang="en-US" altLang="en-US" sz="1800" b="0" i="0" u="none" strike="noStrike" cap="none" normalizeH="0" baseline="0" dirty="0">
                <a:ln>
                  <a:noFill/>
                </a:ln>
                <a:solidFill>
                  <a:schemeClr val="tx1"/>
                </a:solidFill>
                <a:effectLst/>
                <a:latin typeface="Google Sans Text"/>
              </a:rPr>
              <a:t> Applied on top of Matplotlib to render color palettes, statistical bar plots, distribution KDE plots, boxplots for outlier analysis, and scatter plots.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1C41A27-8CED-AFDB-6709-9FA6328C8ECC}"/>
              </a:ext>
            </a:extLst>
          </p:cNvPr>
          <p:cNvPicPr>
            <a:picLocks noChangeAspect="1"/>
          </p:cNvPicPr>
          <p:nvPr/>
        </p:nvPicPr>
        <p:blipFill>
          <a:blip r:embed="rId3"/>
          <a:stretch>
            <a:fillRect/>
          </a:stretch>
        </p:blipFill>
        <p:spPr>
          <a:xfrm>
            <a:off x="320982" y="1221363"/>
            <a:ext cx="6079817" cy="4507434"/>
          </a:xfrm>
          <a:prstGeom prst="rect">
            <a:avLst/>
          </a:prstGeom>
        </p:spPr>
      </p:pic>
      <p:sp>
        <p:nvSpPr>
          <p:cNvPr id="9" name="Rectangle 1">
            <a:extLst>
              <a:ext uri="{FF2B5EF4-FFF2-40B4-BE49-F238E27FC236}">
                <a16:creationId xmlns:a16="http://schemas.microsoft.com/office/drawing/2014/main" id="{AB796F3C-C05E-FAD6-902E-90D95618655A}"/>
              </a:ext>
            </a:extLst>
          </p:cNvPr>
          <p:cNvSpPr>
            <a:spLocks noGrp="1" noChangeArrowheads="1"/>
          </p:cNvSpPr>
          <p:nvPr>
            <p:ph type="body" sz="quarter" idx="12"/>
          </p:nvPr>
        </p:nvSpPr>
        <p:spPr bwMode="auto">
          <a:xfrm>
            <a:off x="6509982" y="1466092"/>
            <a:ext cx="554099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b="1" dirty="0">
                <a:solidFill>
                  <a:schemeClr val="tx1"/>
                </a:solidFill>
              </a:rPr>
              <a:t>Rainfall vs Agricultural Yield </a:t>
            </a: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rPr>
              <a:t>Key Findings:</a:t>
            </a:r>
            <a:endParaRPr kumimoji="0" lang="en-US" altLang="en-US" sz="1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rPr>
              <a:t>Higher yield concentrations (up to 100 </a:t>
            </a:r>
            <a:r>
              <a:rPr kumimoji="0" lang="en-US" altLang="en-US" sz="1600" i="0" u="none" strike="noStrike" cap="none" normalizeH="0" baseline="0" dirty="0" err="1">
                <a:ln>
                  <a:noFill/>
                </a:ln>
                <a:solidFill>
                  <a:schemeClr val="tx1"/>
                </a:solidFill>
                <a:effectLst/>
              </a:rPr>
              <a:t>tonnes</a:t>
            </a:r>
            <a:r>
              <a:rPr kumimoji="0" lang="en-US" altLang="en-US" sz="1600" i="0" u="none" strike="noStrike" cap="none" normalizeH="0" baseline="0" dirty="0">
                <a:ln>
                  <a:noFill/>
                </a:ln>
                <a:solidFill>
                  <a:schemeClr val="tx1"/>
                </a:solidFill>
                <a:effectLst/>
              </a:rPr>
              <a:t>/ha) occur predominantly in the Kharif season (dark blue) where rainfall ranges between 600 mm and 1000 mm.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rPr>
              <a:t>Rabi (teal) shows moderate yields with lower rainfall, while Zaid (light green) clusters at low rainfall levels (&lt;400 mm) and yields under 50 </a:t>
            </a:r>
            <a:r>
              <a:rPr kumimoji="0" lang="en-US" altLang="en-US" sz="1600" i="0" u="none" strike="noStrike" cap="none" normalizeH="0" baseline="0" dirty="0" err="1">
                <a:ln>
                  <a:noFill/>
                </a:ln>
                <a:solidFill>
                  <a:schemeClr val="tx1"/>
                </a:solidFill>
                <a:effectLst/>
              </a:rPr>
              <a:t>tonnes</a:t>
            </a:r>
            <a:r>
              <a:rPr kumimoji="0" lang="en-US" altLang="en-US" sz="1600" i="0" u="none" strike="noStrike" cap="none" normalizeH="0" baseline="0" dirty="0">
                <a:ln>
                  <a:noFill/>
                </a:ln>
                <a:solidFill>
                  <a:schemeClr val="tx1"/>
                </a:solidFill>
                <a:effectLst/>
              </a:rPr>
              <a:t>/ha.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rPr>
              <a:t>A dense cluster of low-yield records near 0–5 </a:t>
            </a:r>
            <a:r>
              <a:rPr kumimoji="0" lang="en-US" altLang="en-US" sz="1600" i="0" u="none" strike="noStrike" cap="none" normalizeH="0" baseline="0" dirty="0" err="1">
                <a:ln>
                  <a:noFill/>
                </a:ln>
                <a:solidFill>
                  <a:schemeClr val="tx1"/>
                </a:solidFill>
                <a:effectLst/>
              </a:rPr>
              <a:t>tonnes</a:t>
            </a:r>
            <a:r>
              <a:rPr kumimoji="0" lang="en-US" altLang="en-US" sz="1600" i="0" u="none" strike="noStrike" cap="none" normalizeH="0" baseline="0" dirty="0">
                <a:ln>
                  <a:noFill/>
                </a:ln>
                <a:solidFill>
                  <a:schemeClr val="tx1"/>
                </a:solidFill>
                <a:effectLst/>
              </a:rPr>
              <a:t>/ha exists across all rainfall levels due to crop-type differences (e.g., grains vs. sugarcane).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How It Helps the Project: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Proves that monsoonal rainfall is a primary driver for maximum seasonal productivity.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Helps identify optimal precipitation thresholds needed to achieve peak crop yields without over-irrigating.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00329800-4D24-A08C-016E-AD0599603FCD}"/>
              </a:ext>
            </a:extLst>
          </p:cNvPr>
          <p:cNvSpPr>
            <a:spLocks noGrp="1" noChangeArrowheads="1"/>
          </p:cNvSpPr>
          <p:nvPr>
            <p:ph type="body" sz="quarter" idx="12"/>
          </p:nvPr>
        </p:nvSpPr>
        <p:spPr bwMode="auto">
          <a:xfrm>
            <a:off x="5663681" y="1328667"/>
            <a:ext cx="6469038"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b="1" dirty="0">
                <a:solidFill>
                  <a:schemeClr val="tx1"/>
                </a:solidFill>
              </a:rPr>
              <a:t>Sunlight Hours vs Soil Moisture (%) Across Seasons</a:t>
            </a: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rPr>
              <a:t>Key Findings: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Kharif</a:t>
            </a:r>
            <a:r>
              <a:rPr kumimoji="0" lang="en-US" altLang="en-US" sz="1600" b="0" i="0" u="none" strike="noStrike" cap="none" normalizeH="0" baseline="0" dirty="0">
                <a:ln>
                  <a:noFill/>
                </a:ln>
                <a:solidFill>
                  <a:schemeClr val="tx1"/>
                </a:solidFill>
                <a:effectLst/>
              </a:rPr>
              <a:t> (teal) exhibits the highest soil moisture retention (</a:t>
            </a:r>
            <a:r>
              <a:rPr kumimoji="0" lang="en-US" altLang="en-US" sz="1600" b="1" i="0" u="none" strike="noStrike" cap="none" normalizeH="0" baseline="0" dirty="0">
                <a:ln>
                  <a:noFill/>
                </a:ln>
                <a:solidFill>
                  <a:schemeClr val="tx1"/>
                </a:solidFill>
                <a:effectLst/>
              </a:rPr>
              <a:t>25%–45%</a:t>
            </a:r>
            <a:r>
              <a:rPr kumimoji="0" lang="en-US" altLang="en-US" sz="1600" b="0" i="0" u="none" strike="noStrike" cap="none" normalizeH="0" baseline="0" dirty="0">
                <a:ln>
                  <a:noFill/>
                </a:ln>
                <a:solidFill>
                  <a:schemeClr val="tx1"/>
                </a:solidFill>
                <a:effectLst/>
              </a:rPr>
              <a:t>) with moderate sunlight (5–8 hours/day).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Zaid</a:t>
            </a:r>
            <a:r>
              <a:rPr kumimoji="0" lang="en-US" altLang="en-US" sz="1600" b="0" i="0" u="none" strike="noStrike" cap="none" normalizeH="0" baseline="0" dirty="0">
                <a:ln>
                  <a:noFill/>
                </a:ln>
                <a:solidFill>
                  <a:schemeClr val="tx1"/>
                </a:solidFill>
                <a:effectLst/>
              </a:rPr>
              <a:t> (purple) shows the lowest soil moisture levels (</a:t>
            </a:r>
            <a:r>
              <a:rPr kumimoji="0" lang="en-US" altLang="en-US" sz="1600" b="1" i="0" u="none" strike="noStrike" cap="none" normalizeH="0" baseline="0" dirty="0">
                <a:ln>
                  <a:noFill/>
                </a:ln>
                <a:solidFill>
                  <a:schemeClr val="tx1"/>
                </a:solidFill>
                <a:effectLst/>
              </a:rPr>
              <a:t>10%–25%</a:t>
            </a:r>
            <a:r>
              <a:rPr kumimoji="0" lang="en-US" altLang="en-US" sz="1600" b="0" i="0" u="none" strike="noStrike" cap="none" normalizeH="0" baseline="0" dirty="0">
                <a:ln>
                  <a:noFill/>
                </a:ln>
                <a:solidFill>
                  <a:schemeClr val="tx1"/>
                </a:solidFill>
                <a:effectLst/>
              </a:rPr>
              <a:t>) alongside the highest daily sunlight exposure (8–11 hours/day).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Rabi</a:t>
            </a:r>
            <a:r>
              <a:rPr kumimoji="0" lang="en-US" altLang="en-US" sz="1600" b="0" i="0" u="none" strike="noStrike" cap="none" normalizeH="0" baseline="0" dirty="0">
                <a:ln>
                  <a:noFill/>
                </a:ln>
                <a:solidFill>
                  <a:schemeClr val="tx1"/>
                </a:solidFill>
                <a:effectLst/>
              </a:rPr>
              <a:t> (orange) sits in the middle, balancing moderate sunlight and mid-range soil moisture.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How It Helps the Project: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Highlights severe evapotranspiration and soil drying during summer (Zaid), justifying the need for mulching and moisture-retention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Explains why summer cultivation incurs higher irrigation demands and lower crop resilience.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pic>
        <p:nvPicPr>
          <p:cNvPr id="9" name="Picture 8">
            <a:extLst>
              <a:ext uri="{FF2B5EF4-FFF2-40B4-BE49-F238E27FC236}">
                <a16:creationId xmlns:a16="http://schemas.microsoft.com/office/drawing/2014/main" id="{DAB9F248-1758-CF7E-492D-BFD7C5EA5434}"/>
              </a:ext>
            </a:extLst>
          </p:cNvPr>
          <p:cNvPicPr>
            <a:picLocks noChangeAspect="1"/>
          </p:cNvPicPr>
          <p:nvPr/>
        </p:nvPicPr>
        <p:blipFill>
          <a:blip r:embed="rId3"/>
          <a:stretch>
            <a:fillRect/>
          </a:stretch>
        </p:blipFill>
        <p:spPr>
          <a:xfrm>
            <a:off x="59281" y="1455748"/>
            <a:ext cx="5604402" cy="368537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167552" y="1665027"/>
            <a:ext cx="5703466" cy="4999932"/>
          </a:xfrm>
        </p:spPr>
        <p:txBody>
          <a:bodyPr>
            <a:normAutofit fontScale="92500" lnSpcReduction="10000"/>
          </a:bodyPr>
          <a:lstStyle/>
          <a:p>
            <a:pPr marL="0" indent="0" algn="just">
              <a:buNone/>
            </a:pPr>
            <a:r>
              <a:rPr lang="en-US" b="1" dirty="0">
                <a:solidFill>
                  <a:schemeClr val="tx1"/>
                </a:solidFill>
              </a:rPr>
              <a:t>Water Efficiency by Irrigation Method and Season</a:t>
            </a:r>
          </a:p>
          <a:p>
            <a:pPr marL="0" indent="0" algn="just">
              <a:buNone/>
            </a:pPr>
            <a:r>
              <a:rPr lang="en-US" dirty="0">
                <a:solidFill>
                  <a:schemeClr val="tx1"/>
                </a:solidFill>
              </a:rPr>
              <a:t>Key Findings:</a:t>
            </a:r>
          </a:p>
          <a:p>
            <a:pPr lvl="1" algn="just"/>
            <a:r>
              <a:rPr lang="en-US" sz="1600" dirty="0">
                <a:solidFill>
                  <a:schemeClr val="tx1"/>
                </a:solidFill>
              </a:rPr>
              <a:t>Rainfed systems achieve the highest water efficiency during Kharif (~9 </a:t>
            </a:r>
            <a:r>
              <a:rPr lang="en-US" sz="1600" dirty="0" err="1">
                <a:solidFill>
                  <a:schemeClr val="tx1"/>
                </a:solidFill>
              </a:rPr>
              <a:t>tonnes</a:t>
            </a:r>
            <a:r>
              <a:rPr lang="en-US" sz="1600" dirty="0">
                <a:solidFill>
                  <a:schemeClr val="tx1"/>
                </a:solidFill>
              </a:rPr>
              <a:t>/1000m³) because natural rainfall provides water without operational pumping.</a:t>
            </a:r>
          </a:p>
          <a:p>
            <a:pPr lvl="1" algn="just"/>
            <a:r>
              <a:rPr lang="en-US" sz="1600" dirty="0">
                <a:solidFill>
                  <a:schemeClr val="tx1"/>
                </a:solidFill>
              </a:rPr>
              <a:t>Drip Irrigation maintains high, stable water efficiency across all seasons (~5–7 </a:t>
            </a:r>
            <a:r>
              <a:rPr lang="en-US" sz="1600" dirty="0" err="1">
                <a:solidFill>
                  <a:schemeClr val="tx1"/>
                </a:solidFill>
              </a:rPr>
              <a:t>tonnes</a:t>
            </a:r>
            <a:r>
              <a:rPr lang="en-US" sz="1600" dirty="0">
                <a:solidFill>
                  <a:schemeClr val="tx1"/>
                </a:solidFill>
              </a:rPr>
              <a:t>/1000m³).</a:t>
            </a:r>
          </a:p>
          <a:p>
            <a:pPr lvl="1" algn="just"/>
            <a:r>
              <a:rPr lang="en-US" sz="1600" dirty="0">
                <a:solidFill>
                  <a:schemeClr val="tx1"/>
                </a:solidFill>
              </a:rPr>
              <a:t>Flood Irrigation records the lowest efficiency across all seasons (&lt;4 </a:t>
            </a:r>
            <a:r>
              <a:rPr lang="en-US" sz="1600" dirty="0" err="1">
                <a:solidFill>
                  <a:schemeClr val="tx1"/>
                </a:solidFill>
              </a:rPr>
              <a:t>tonnes</a:t>
            </a:r>
            <a:r>
              <a:rPr lang="en-US" sz="1600" dirty="0">
                <a:solidFill>
                  <a:schemeClr val="tx1"/>
                </a:solidFill>
              </a:rPr>
              <a:t>/1000m³), especially in Zaid (~2.5 </a:t>
            </a:r>
            <a:r>
              <a:rPr lang="en-US" sz="1600" dirty="0" err="1">
                <a:solidFill>
                  <a:schemeClr val="tx1"/>
                </a:solidFill>
              </a:rPr>
              <a:t>tonnes</a:t>
            </a:r>
            <a:r>
              <a:rPr lang="en-US" sz="1600" dirty="0">
                <a:solidFill>
                  <a:schemeClr val="tx1"/>
                </a:solidFill>
              </a:rPr>
              <a:t>/1000m³).</a:t>
            </a:r>
          </a:p>
          <a:p>
            <a:pPr marL="0" indent="0" algn="just">
              <a:buNone/>
            </a:pPr>
            <a:r>
              <a:rPr lang="en-US" dirty="0">
                <a:solidFill>
                  <a:schemeClr val="tx1"/>
                </a:solidFill>
              </a:rPr>
              <a:t>How It Helps the Project:</a:t>
            </a:r>
          </a:p>
          <a:p>
            <a:pPr lvl="1" algn="just"/>
            <a:r>
              <a:rPr lang="en-US" sz="1700" dirty="0">
                <a:solidFill>
                  <a:schemeClr val="tx1"/>
                </a:solidFill>
              </a:rPr>
              <a:t>Provides empirical proof that transitioning from flood to drip irrigation significantly improves water productivity.</a:t>
            </a:r>
          </a:p>
          <a:p>
            <a:pPr lvl="1" algn="just"/>
            <a:r>
              <a:rPr lang="en-US" sz="1700" dirty="0">
                <a:solidFill>
                  <a:schemeClr val="tx1"/>
                </a:solidFill>
              </a:rPr>
              <a:t>Directly supports the policy recommendation to subsidize micro-irrigation systems for summer farming.</a:t>
            </a:r>
          </a:p>
          <a:p>
            <a:pPr marL="0" indent="0">
              <a:buNone/>
            </a:pPr>
            <a:endParaRPr lang="en-US" b="1" dirty="0"/>
          </a:p>
        </p:txBody>
      </p:sp>
      <p:pic>
        <p:nvPicPr>
          <p:cNvPr id="3" name="Picture 2">
            <a:extLst>
              <a:ext uri="{FF2B5EF4-FFF2-40B4-BE49-F238E27FC236}">
                <a16:creationId xmlns:a16="http://schemas.microsoft.com/office/drawing/2014/main" id="{E38BA5E4-B0FB-8E3C-90D6-90959A38BC6B}"/>
              </a:ext>
            </a:extLst>
          </p:cNvPr>
          <p:cNvPicPr>
            <a:picLocks noChangeAspect="1"/>
          </p:cNvPicPr>
          <p:nvPr/>
        </p:nvPicPr>
        <p:blipFill>
          <a:blip r:embed="rId3"/>
          <a:stretch>
            <a:fillRect/>
          </a:stretch>
        </p:blipFill>
        <p:spPr>
          <a:xfrm>
            <a:off x="19346" y="1665027"/>
            <a:ext cx="6076653" cy="482238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0">
                                            <p:txEl>
                                              <p:pRg st="2" end="2"/>
                                            </p:txEl>
                                          </p:spTgt>
                                        </p:tgtEl>
                                        <p:attrNameLst>
                                          <p:attrName>style.visibility</p:attrName>
                                        </p:attrNameLst>
                                      </p:cBhvr>
                                      <p:to>
                                        <p:strVal val="visible"/>
                                      </p:to>
                                    </p:set>
                                    <p:animEffect transition="in" filter="fade">
                                      <p:cBhvr>
                                        <p:cTn id="40" dur="1000"/>
                                        <p:tgtEl>
                                          <p:spTgt spid="10">
                                            <p:txEl>
                                              <p:pRg st="2" end="2"/>
                                            </p:txEl>
                                          </p:spTgt>
                                        </p:tgtEl>
                                      </p:cBhvr>
                                    </p:animEffect>
                                    <p:anim calcmode="lin" valueType="num">
                                      <p:cBhvr>
                                        <p:cTn id="41"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0">
                                            <p:txEl>
                                              <p:pRg st="3" end="3"/>
                                            </p:txEl>
                                          </p:spTgt>
                                        </p:tgtEl>
                                        <p:attrNameLst>
                                          <p:attrName>style.visibility</p:attrName>
                                        </p:attrNameLst>
                                      </p:cBhvr>
                                      <p:to>
                                        <p:strVal val="visible"/>
                                      </p:to>
                                    </p:set>
                                    <p:animEffect transition="in" filter="fade">
                                      <p:cBhvr>
                                        <p:cTn id="45" dur="1000"/>
                                        <p:tgtEl>
                                          <p:spTgt spid="10">
                                            <p:txEl>
                                              <p:pRg st="3" end="3"/>
                                            </p:txEl>
                                          </p:spTgt>
                                        </p:tgtEl>
                                      </p:cBhvr>
                                    </p:animEffect>
                                    <p:anim calcmode="lin" valueType="num">
                                      <p:cBhvr>
                                        <p:cTn id="46"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7"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0">
                                            <p:txEl>
                                              <p:pRg st="4" end="4"/>
                                            </p:txEl>
                                          </p:spTgt>
                                        </p:tgtEl>
                                        <p:attrNameLst>
                                          <p:attrName>style.visibility</p:attrName>
                                        </p:attrNameLst>
                                      </p:cBhvr>
                                      <p:to>
                                        <p:strVal val="visible"/>
                                      </p:to>
                                    </p:set>
                                    <p:animEffect transition="in" filter="fade">
                                      <p:cBhvr>
                                        <p:cTn id="50" dur="1000"/>
                                        <p:tgtEl>
                                          <p:spTgt spid="10">
                                            <p:txEl>
                                              <p:pRg st="4" end="4"/>
                                            </p:txEl>
                                          </p:spTgt>
                                        </p:tgtEl>
                                      </p:cBhvr>
                                    </p:animEffect>
                                    <p:anim calcmode="lin" valueType="num">
                                      <p:cBhvr>
                                        <p:cTn id="51"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2"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0">
                                            <p:txEl>
                                              <p:pRg st="5" end="5"/>
                                            </p:txEl>
                                          </p:spTgt>
                                        </p:tgtEl>
                                        <p:attrNameLst>
                                          <p:attrName>style.visibility</p:attrName>
                                        </p:attrNameLst>
                                      </p:cBhvr>
                                      <p:to>
                                        <p:strVal val="visible"/>
                                      </p:to>
                                    </p:set>
                                    <p:animEffect transition="in" filter="fade">
                                      <p:cBhvr>
                                        <p:cTn id="57" dur="1000"/>
                                        <p:tgtEl>
                                          <p:spTgt spid="10">
                                            <p:txEl>
                                              <p:pRg st="5" end="5"/>
                                            </p:txEl>
                                          </p:spTgt>
                                        </p:tgtEl>
                                      </p:cBhvr>
                                    </p:animEffect>
                                    <p:anim calcmode="lin" valueType="num">
                                      <p:cBhvr>
                                        <p:cTn id="58"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9" dur="1000" fill="hold"/>
                                        <p:tgtEl>
                                          <p:spTgt spid="10">
                                            <p:txEl>
                                              <p:pRg st="5" end="5"/>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xEl>
                                              <p:pRg st="6" end="6"/>
                                            </p:txEl>
                                          </p:spTgt>
                                        </p:tgtEl>
                                        <p:attrNameLst>
                                          <p:attrName>style.visibility</p:attrName>
                                        </p:attrNameLst>
                                      </p:cBhvr>
                                      <p:to>
                                        <p:strVal val="visible"/>
                                      </p:to>
                                    </p:set>
                                    <p:animEffect transition="in" filter="fade">
                                      <p:cBhvr>
                                        <p:cTn id="62" dur="1000"/>
                                        <p:tgtEl>
                                          <p:spTgt spid="10">
                                            <p:txEl>
                                              <p:pRg st="6" end="6"/>
                                            </p:txEl>
                                          </p:spTgt>
                                        </p:tgtEl>
                                      </p:cBhvr>
                                    </p:animEffect>
                                    <p:anim calcmode="lin" valueType="num">
                                      <p:cBhvr>
                                        <p:cTn id="63"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64" dur="1000" fill="hold"/>
                                        <p:tgtEl>
                                          <p:spTgt spid="10">
                                            <p:txEl>
                                              <p:pRg st="6" end="6"/>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0">
                                            <p:txEl>
                                              <p:pRg st="7" end="7"/>
                                            </p:txEl>
                                          </p:spTgt>
                                        </p:tgtEl>
                                        <p:attrNameLst>
                                          <p:attrName>style.visibility</p:attrName>
                                        </p:attrNameLst>
                                      </p:cBhvr>
                                      <p:to>
                                        <p:strVal val="visible"/>
                                      </p:to>
                                    </p:set>
                                    <p:animEffect transition="in" filter="fade">
                                      <p:cBhvr>
                                        <p:cTn id="67" dur="1000"/>
                                        <p:tgtEl>
                                          <p:spTgt spid="10">
                                            <p:txEl>
                                              <p:pRg st="7" end="7"/>
                                            </p:txEl>
                                          </p:spTgt>
                                        </p:tgtEl>
                                      </p:cBhvr>
                                    </p:animEffect>
                                    <p:anim calcmode="lin" valueType="num">
                                      <p:cBhvr>
                                        <p:cTn id="6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6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5606696" y="1893758"/>
            <a:ext cx="6457925" cy="3967183"/>
          </a:xfrm>
        </p:spPr>
        <p:txBody>
          <a:bodyPr>
            <a:normAutofit/>
          </a:bodyPr>
          <a:lstStyle/>
          <a:p>
            <a:pPr marL="0" indent="0">
              <a:buNone/>
            </a:pPr>
            <a:r>
              <a:rPr lang="en-US" b="1" dirty="0">
                <a:solidFill>
                  <a:schemeClr val="tx1"/>
                </a:solidFill>
              </a:rPr>
              <a:t>Distribution of Records by Season</a:t>
            </a:r>
          </a:p>
          <a:p>
            <a:pPr algn="just"/>
            <a:r>
              <a:rPr lang="en-US" sz="1800" dirty="0"/>
              <a:t>Key Findings:</a:t>
            </a:r>
          </a:p>
          <a:p>
            <a:pPr lvl="1" algn="just"/>
            <a:r>
              <a:rPr lang="en-US" sz="1600" dirty="0"/>
              <a:t>Kharif comprises the largest share of total farm records at 44.5%.</a:t>
            </a:r>
          </a:p>
          <a:p>
            <a:pPr lvl="1" algn="just"/>
            <a:r>
              <a:rPr lang="en-US" sz="1600" dirty="0"/>
              <a:t>Rabi accounts for 40.7% of dataset observations.</a:t>
            </a:r>
          </a:p>
          <a:p>
            <a:pPr lvl="1" algn="just"/>
            <a:r>
              <a:rPr lang="en-US" sz="1600" dirty="0"/>
              <a:t>Zaid represents the smallest proportion at only 14.8%.</a:t>
            </a:r>
          </a:p>
          <a:p>
            <a:pPr algn="just"/>
            <a:r>
              <a:rPr lang="en-US" sz="1800" dirty="0"/>
              <a:t>How It Helps the Project:</a:t>
            </a:r>
          </a:p>
          <a:p>
            <a:pPr lvl="1" algn="just"/>
            <a:r>
              <a:rPr lang="en-US" sz="1600" dirty="0"/>
              <a:t>Establishes dataset balance and confirms that farming activity drops sharply during the summer off-season.</a:t>
            </a:r>
          </a:p>
          <a:p>
            <a:pPr lvl="1" algn="just"/>
            <a:r>
              <a:rPr lang="en-US" sz="1600" dirty="0"/>
              <a:t>Provides baseline context for evaluating overall sample representation across cropping cycles.</a:t>
            </a:r>
          </a:p>
          <a:p>
            <a:pPr marL="0" indent="0">
              <a:buNone/>
            </a:pPr>
            <a:endParaRPr lang="en-IN" dirty="0"/>
          </a:p>
        </p:txBody>
      </p:sp>
      <p:pic>
        <p:nvPicPr>
          <p:cNvPr id="3" name="Picture 2">
            <a:extLst>
              <a:ext uri="{FF2B5EF4-FFF2-40B4-BE49-F238E27FC236}">
                <a16:creationId xmlns:a16="http://schemas.microsoft.com/office/drawing/2014/main" id="{427C6779-D3A8-A94A-74FB-D6A927600970}"/>
              </a:ext>
            </a:extLst>
          </p:cNvPr>
          <p:cNvPicPr>
            <a:picLocks noChangeAspect="1"/>
          </p:cNvPicPr>
          <p:nvPr/>
        </p:nvPicPr>
        <p:blipFill>
          <a:blip r:embed="rId3"/>
          <a:stretch>
            <a:fillRect/>
          </a:stretch>
        </p:blipFill>
        <p:spPr>
          <a:xfrm>
            <a:off x="320982" y="1615446"/>
            <a:ext cx="5285714" cy="452380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0">
                                            <p:txEl>
                                              <p:pRg st="2" end="2"/>
                                            </p:txEl>
                                          </p:spTgt>
                                        </p:tgtEl>
                                        <p:attrNameLst>
                                          <p:attrName>style.visibility</p:attrName>
                                        </p:attrNameLst>
                                      </p:cBhvr>
                                      <p:to>
                                        <p:strVal val="visible"/>
                                      </p:to>
                                    </p:set>
                                    <p:animEffect transition="in" filter="fade">
                                      <p:cBhvr>
                                        <p:cTn id="40" dur="1000"/>
                                        <p:tgtEl>
                                          <p:spTgt spid="10">
                                            <p:txEl>
                                              <p:pRg st="2" end="2"/>
                                            </p:txEl>
                                          </p:spTgt>
                                        </p:tgtEl>
                                      </p:cBhvr>
                                    </p:animEffect>
                                    <p:anim calcmode="lin" valueType="num">
                                      <p:cBhvr>
                                        <p:cTn id="41"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0">
                                            <p:txEl>
                                              <p:pRg st="3" end="3"/>
                                            </p:txEl>
                                          </p:spTgt>
                                        </p:tgtEl>
                                        <p:attrNameLst>
                                          <p:attrName>style.visibility</p:attrName>
                                        </p:attrNameLst>
                                      </p:cBhvr>
                                      <p:to>
                                        <p:strVal val="visible"/>
                                      </p:to>
                                    </p:set>
                                    <p:animEffect transition="in" filter="fade">
                                      <p:cBhvr>
                                        <p:cTn id="45" dur="1000"/>
                                        <p:tgtEl>
                                          <p:spTgt spid="10">
                                            <p:txEl>
                                              <p:pRg st="3" end="3"/>
                                            </p:txEl>
                                          </p:spTgt>
                                        </p:tgtEl>
                                      </p:cBhvr>
                                    </p:animEffect>
                                    <p:anim calcmode="lin" valueType="num">
                                      <p:cBhvr>
                                        <p:cTn id="46"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7"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0">
                                            <p:txEl>
                                              <p:pRg st="4" end="4"/>
                                            </p:txEl>
                                          </p:spTgt>
                                        </p:tgtEl>
                                        <p:attrNameLst>
                                          <p:attrName>style.visibility</p:attrName>
                                        </p:attrNameLst>
                                      </p:cBhvr>
                                      <p:to>
                                        <p:strVal val="visible"/>
                                      </p:to>
                                    </p:set>
                                    <p:animEffect transition="in" filter="fade">
                                      <p:cBhvr>
                                        <p:cTn id="50" dur="1000"/>
                                        <p:tgtEl>
                                          <p:spTgt spid="10">
                                            <p:txEl>
                                              <p:pRg st="4" end="4"/>
                                            </p:txEl>
                                          </p:spTgt>
                                        </p:tgtEl>
                                      </p:cBhvr>
                                    </p:animEffect>
                                    <p:anim calcmode="lin" valueType="num">
                                      <p:cBhvr>
                                        <p:cTn id="51"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2"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0">
                                            <p:txEl>
                                              <p:pRg st="5" end="5"/>
                                            </p:txEl>
                                          </p:spTgt>
                                        </p:tgtEl>
                                        <p:attrNameLst>
                                          <p:attrName>style.visibility</p:attrName>
                                        </p:attrNameLst>
                                      </p:cBhvr>
                                      <p:to>
                                        <p:strVal val="visible"/>
                                      </p:to>
                                    </p:set>
                                    <p:animEffect transition="in" filter="fade">
                                      <p:cBhvr>
                                        <p:cTn id="57" dur="1000"/>
                                        <p:tgtEl>
                                          <p:spTgt spid="10">
                                            <p:txEl>
                                              <p:pRg st="5" end="5"/>
                                            </p:txEl>
                                          </p:spTgt>
                                        </p:tgtEl>
                                      </p:cBhvr>
                                    </p:animEffect>
                                    <p:anim calcmode="lin" valueType="num">
                                      <p:cBhvr>
                                        <p:cTn id="58"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9" dur="1000" fill="hold"/>
                                        <p:tgtEl>
                                          <p:spTgt spid="10">
                                            <p:txEl>
                                              <p:pRg st="5" end="5"/>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xEl>
                                              <p:pRg st="6" end="6"/>
                                            </p:txEl>
                                          </p:spTgt>
                                        </p:tgtEl>
                                        <p:attrNameLst>
                                          <p:attrName>style.visibility</p:attrName>
                                        </p:attrNameLst>
                                      </p:cBhvr>
                                      <p:to>
                                        <p:strVal val="visible"/>
                                      </p:to>
                                    </p:set>
                                    <p:animEffect transition="in" filter="fade">
                                      <p:cBhvr>
                                        <p:cTn id="62" dur="1000"/>
                                        <p:tgtEl>
                                          <p:spTgt spid="10">
                                            <p:txEl>
                                              <p:pRg st="6" end="6"/>
                                            </p:txEl>
                                          </p:spTgt>
                                        </p:tgtEl>
                                      </p:cBhvr>
                                    </p:animEffect>
                                    <p:anim calcmode="lin" valueType="num">
                                      <p:cBhvr>
                                        <p:cTn id="63"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64" dur="1000" fill="hold"/>
                                        <p:tgtEl>
                                          <p:spTgt spid="10">
                                            <p:txEl>
                                              <p:pRg st="6" end="6"/>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0">
                                            <p:txEl>
                                              <p:pRg st="7" end="7"/>
                                            </p:txEl>
                                          </p:spTgt>
                                        </p:tgtEl>
                                        <p:attrNameLst>
                                          <p:attrName>style.visibility</p:attrName>
                                        </p:attrNameLst>
                                      </p:cBhvr>
                                      <p:to>
                                        <p:strVal val="visible"/>
                                      </p:to>
                                    </p:set>
                                    <p:animEffect transition="in" filter="fade">
                                      <p:cBhvr>
                                        <p:cTn id="67" dur="1000"/>
                                        <p:tgtEl>
                                          <p:spTgt spid="10">
                                            <p:txEl>
                                              <p:pRg st="7" end="7"/>
                                            </p:txEl>
                                          </p:spTgt>
                                        </p:tgtEl>
                                      </p:cBhvr>
                                    </p:animEffect>
                                    <p:anim calcmode="lin" valueType="num">
                                      <p:cBhvr>
                                        <p:cTn id="6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6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895832" y="1431693"/>
            <a:ext cx="5496683" cy="4832629"/>
          </a:xfrm>
        </p:spPr>
        <p:txBody>
          <a:bodyPr>
            <a:normAutofit/>
          </a:bodyPr>
          <a:lstStyle/>
          <a:p>
            <a:pPr marL="0" indent="0">
              <a:buNone/>
            </a:pPr>
            <a:r>
              <a:rPr lang="en-US" b="1" dirty="0"/>
              <a:t>Distribution of Farm Profit</a:t>
            </a:r>
          </a:p>
          <a:p>
            <a:r>
              <a:rPr lang="en-US" sz="1800" b="1" dirty="0"/>
              <a:t>Key Findings:</a:t>
            </a:r>
            <a:endParaRPr lang="en-US" sz="1800" dirty="0"/>
          </a:p>
          <a:p>
            <a:pPr lvl="1"/>
            <a:r>
              <a:rPr lang="en-US" sz="1600" dirty="0"/>
              <a:t>Profit distribution is heavily right-skewed, centered near </a:t>
            </a:r>
            <a:r>
              <a:rPr lang="en-US" sz="1600" b="1" dirty="0"/>
              <a:t>₹0 INR</a:t>
            </a:r>
            <a:r>
              <a:rPr lang="en-US" sz="1600" dirty="0"/>
              <a:t> with a sharp peak.</a:t>
            </a:r>
          </a:p>
          <a:p>
            <a:pPr lvl="1"/>
            <a:r>
              <a:rPr lang="en-US" sz="1600" dirty="0"/>
              <a:t>Significant negative values (losses down to </a:t>
            </a:r>
            <a:r>
              <a:rPr lang="en-US" sz="1600" b="1" dirty="0"/>
              <a:t>-₹1,000,000 INR</a:t>
            </a:r>
            <a:r>
              <a:rPr lang="en-US" sz="1600" dirty="0"/>
              <a:t>) exist, while extreme high-performing farms reach profits up to </a:t>
            </a:r>
            <a:r>
              <a:rPr lang="en-US" sz="1600" b="1" dirty="0"/>
              <a:t>₹4,000,000 INR</a:t>
            </a:r>
            <a:r>
              <a:rPr lang="en-US" sz="1600" dirty="0"/>
              <a:t>.</a:t>
            </a:r>
          </a:p>
          <a:p>
            <a:r>
              <a:rPr lang="en-US" sz="1800" b="1" dirty="0"/>
              <a:t>How It Helps the Project:</a:t>
            </a:r>
            <a:endParaRPr lang="en-US" sz="1800" dirty="0"/>
          </a:p>
          <a:p>
            <a:pPr lvl="1"/>
            <a:r>
              <a:rPr lang="en-US" sz="1600" dirty="0"/>
              <a:t>Demonstrates high economic variance across farms, proving that median values are better indicators of typical returns than overall averages.</a:t>
            </a:r>
          </a:p>
          <a:p>
            <a:pPr lvl="1"/>
            <a:r>
              <a:rPr lang="en-US" sz="1600" dirty="0"/>
              <a:t>Highlights financial risk exposure in farming and identifies the presence of commercial outliers.</a:t>
            </a:r>
          </a:p>
          <a:p>
            <a:pPr marL="0" indent="0">
              <a:buNone/>
            </a:pPr>
            <a:endParaRPr lang="en-IN" dirty="0"/>
          </a:p>
        </p:txBody>
      </p:sp>
      <p:pic>
        <p:nvPicPr>
          <p:cNvPr id="3" name="Picture 2">
            <a:extLst>
              <a:ext uri="{FF2B5EF4-FFF2-40B4-BE49-F238E27FC236}">
                <a16:creationId xmlns:a16="http://schemas.microsoft.com/office/drawing/2014/main" id="{8B2F73FB-40F6-116C-AE17-0F9C4C1B3DA4}"/>
              </a:ext>
            </a:extLst>
          </p:cNvPr>
          <p:cNvPicPr>
            <a:picLocks noChangeAspect="1"/>
          </p:cNvPicPr>
          <p:nvPr/>
        </p:nvPicPr>
        <p:blipFill>
          <a:blip r:embed="rId3"/>
          <a:stretch>
            <a:fillRect/>
          </a:stretch>
        </p:blipFill>
        <p:spPr>
          <a:xfrm>
            <a:off x="155808" y="1542197"/>
            <a:ext cx="5740024" cy="433998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0">
                                            <p:txEl>
                                              <p:pRg st="2" end="2"/>
                                            </p:txEl>
                                          </p:spTgt>
                                        </p:tgtEl>
                                        <p:attrNameLst>
                                          <p:attrName>style.visibility</p:attrName>
                                        </p:attrNameLst>
                                      </p:cBhvr>
                                      <p:to>
                                        <p:strVal val="visible"/>
                                      </p:to>
                                    </p:set>
                                    <p:animEffect transition="in" filter="fade">
                                      <p:cBhvr>
                                        <p:cTn id="40" dur="1000"/>
                                        <p:tgtEl>
                                          <p:spTgt spid="10">
                                            <p:txEl>
                                              <p:pRg st="2" end="2"/>
                                            </p:txEl>
                                          </p:spTgt>
                                        </p:tgtEl>
                                      </p:cBhvr>
                                    </p:animEffect>
                                    <p:anim calcmode="lin" valueType="num">
                                      <p:cBhvr>
                                        <p:cTn id="41"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0">
                                            <p:txEl>
                                              <p:pRg st="3" end="3"/>
                                            </p:txEl>
                                          </p:spTgt>
                                        </p:tgtEl>
                                        <p:attrNameLst>
                                          <p:attrName>style.visibility</p:attrName>
                                        </p:attrNameLst>
                                      </p:cBhvr>
                                      <p:to>
                                        <p:strVal val="visible"/>
                                      </p:to>
                                    </p:set>
                                    <p:animEffect transition="in" filter="fade">
                                      <p:cBhvr>
                                        <p:cTn id="45" dur="1000"/>
                                        <p:tgtEl>
                                          <p:spTgt spid="10">
                                            <p:txEl>
                                              <p:pRg st="3" end="3"/>
                                            </p:txEl>
                                          </p:spTgt>
                                        </p:tgtEl>
                                      </p:cBhvr>
                                    </p:animEffect>
                                    <p:anim calcmode="lin" valueType="num">
                                      <p:cBhvr>
                                        <p:cTn id="46"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7"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0">
                                            <p:txEl>
                                              <p:pRg st="4" end="4"/>
                                            </p:txEl>
                                          </p:spTgt>
                                        </p:tgtEl>
                                        <p:attrNameLst>
                                          <p:attrName>style.visibility</p:attrName>
                                        </p:attrNameLst>
                                      </p:cBhvr>
                                      <p:to>
                                        <p:strVal val="visible"/>
                                      </p:to>
                                    </p:set>
                                    <p:animEffect transition="in" filter="fade">
                                      <p:cBhvr>
                                        <p:cTn id="52" dur="1000"/>
                                        <p:tgtEl>
                                          <p:spTgt spid="10">
                                            <p:txEl>
                                              <p:pRg st="4" end="4"/>
                                            </p:txEl>
                                          </p:spTgt>
                                        </p:tgtEl>
                                      </p:cBhvr>
                                    </p:animEffect>
                                    <p:anim calcmode="lin" valueType="num">
                                      <p:cBhvr>
                                        <p:cTn id="53"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4" dur="1000" fill="hold"/>
                                        <p:tgtEl>
                                          <p:spTgt spid="10">
                                            <p:txEl>
                                              <p:pRg st="4" end="4"/>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0">
                                            <p:txEl>
                                              <p:pRg st="5" end="5"/>
                                            </p:txEl>
                                          </p:spTgt>
                                        </p:tgtEl>
                                        <p:attrNameLst>
                                          <p:attrName>style.visibility</p:attrName>
                                        </p:attrNameLst>
                                      </p:cBhvr>
                                      <p:to>
                                        <p:strVal val="visible"/>
                                      </p:to>
                                    </p:set>
                                    <p:animEffect transition="in" filter="fade">
                                      <p:cBhvr>
                                        <p:cTn id="57" dur="1000"/>
                                        <p:tgtEl>
                                          <p:spTgt spid="10">
                                            <p:txEl>
                                              <p:pRg st="5" end="5"/>
                                            </p:txEl>
                                          </p:spTgt>
                                        </p:tgtEl>
                                      </p:cBhvr>
                                    </p:animEffect>
                                    <p:anim calcmode="lin" valueType="num">
                                      <p:cBhvr>
                                        <p:cTn id="58"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9" dur="1000" fill="hold"/>
                                        <p:tgtEl>
                                          <p:spTgt spid="10">
                                            <p:txEl>
                                              <p:pRg st="5" end="5"/>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xEl>
                                              <p:pRg st="6" end="6"/>
                                            </p:txEl>
                                          </p:spTgt>
                                        </p:tgtEl>
                                        <p:attrNameLst>
                                          <p:attrName>style.visibility</p:attrName>
                                        </p:attrNameLst>
                                      </p:cBhvr>
                                      <p:to>
                                        <p:strVal val="visible"/>
                                      </p:to>
                                    </p:set>
                                    <p:animEffect transition="in" filter="fade">
                                      <p:cBhvr>
                                        <p:cTn id="62" dur="1000"/>
                                        <p:tgtEl>
                                          <p:spTgt spid="10">
                                            <p:txEl>
                                              <p:pRg st="6" end="6"/>
                                            </p:txEl>
                                          </p:spTgt>
                                        </p:tgtEl>
                                      </p:cBhvr>
                                    </p:animEffect>
                                    <p:anim calcmode="lin" valueType="num">
                                      <p:cBhvr>
                                        <p:cTn id="63"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64"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096000" y="1275371"/>
            <a:ext cx="5775018" cy="4027411"/>
          </a:xfrm>
        </p:spPr>
        <p:txBody>
          <a:bodyPr>
            <a:normAutofit/>
          </a:bodyPr>
          <a:lstStyle/>
          <a:p>
            <a:pPr marL="0" indent="0">
              <a:buNone/>
            </a:pPr>
            <a:r>
              <a:rPr lang="en-US" b="1" dirty="0">
                <a:solidFill>
                  <a:schemeClr val="tx1"/>
                </a:solidFill>
              </a:rPr>
              <a:t>Distribution of Rainfall </a:t>
            </a:r>
          </a:p>
          <a:p>
            <a:pPr marL="0" indent="0">
              <a:buNone/>
            </a:pPr>
            <a:r>
              <a:rPr lang="en-US" sz="1800" b="1" dirty="0">
                <a:solidFill>
                  <a:schemeClr val="tx1"/>
                </a:solidFill>
              </a:rPr>
              <a:t>Key Findings:</a:t>
            </a:r>
            <a:endParaRPr lang="en-US" sz="1800" dirty="0">
              <a:solidFill>
                <a:schemeClr val="tx1"/>
              </a:solidFill>
            </a:endParaRPr>
          </a:p>
          <a:p>
            <a:pPr lvl="1"/>
            <a:r>
              <a:rPr lang="en-US" sz="1600" dirty="0">
                <a:solidFill>
                  <a:schemeClr val="tx1"/>
                </a:solidFill>
              </a:rPr>
              <a:t>Bimodal precipitation distribution with primary peaks around </a:t>
            </a:r>
            <a:r>
              <a:rPr lang="en-US" sz="1600" b="1" dirty="0">
                <a:solidFill>
                  <a:schemeClr val="tx1"/>
                </a:solidFill>
              </a:rPr>
              <a:t>400–500 mm</a:t>
            </a:r>
            <a:r>
              <a:rPr lang="en-US" sz="1600" dirty="0">
                <a:solidFill>
                  <a:schemeClr val="tx1"/>
                </a:solidFill>
              </a:rPr>
              <a:t> and </a:t>
            </a:r>
            <a:r>
              <a:rPr lang="en-US" sz="1600" b="1" dirty="0">
                <a:solidFill>
                  <a:schemeClr val="tx1"/>
                </a:solidFill>
              </a:rPr>
              <a:t>800–900 mm</a:t>
            </a:r>
            <a:r>
              <a:rPr lang="en-US" sz="1600" dirty="0">
                <a:solidFill>
                  <a:schemeClr val="tx1"/>
                </a:solidFill>
              </a:rPr>
              <a:t>.</a:t>
            </a:r>
          </a:p>
          <a:p>
            <a:pPr lvl="1"/>
            <a:r>
              <a:rPr lang="en-US" sz="1600" dirty="0">
                <a:solidFill>
                  <a:schemeClr val="tx1"/>
                </a:solidFill>
              </a:rPr>
              <a:t>Rainfall spans from under 100 mm up to 1400 mm across all recorded locations.</a:t>
            </a:r>
          </a:p>
          <a:p>
            <a:pPr marL="0" indent="0">
              <a:buNone/>
            </a:pPr>
            <a:r>
              <a:rPr lang="en-US" sz="1800" b="1" dirty="0">
                <a:solidFill>
                  <a:schemeClr val="tx1"/>
                </a:solidFill>
              </a:rPr>
              <a:t>How It Helps the Project:</a:t>
            </a:r>
            <a:endParaRPr lang="en-US" sz="1800" dirty="0">
              <a:solidFill>
                <a:schemeClr val="tx1"/>
              </a:solidFill>
            </a:endParaRPr>
          </a:p>
          <a:p>
            <a:pPr lvl="1"/>
            <a:r>
              <a:rPr lang="en-US" sz="1600" dirty="0">
                <a:solidFill>
                  <a:schemeClr val="tx1"/>
                </a:solidFill>
              </a:rPr>
              <a:t>Confirms distinct climate zones within the dataset (semi-arid vs. heavy monsoon regions).</a:t>
            </a:r>
          </a:p>
          <a:p>
            <a:pPr lvl="1"/>
            <a:r>
              <a:rPr lang="en-US" sz="1600" dirty="0">
                <a:solidFill>
                  <a:schemeClr val="tx1"/>
                </a:solidFill>
              </a:rPr>
              <a:t>Serves as a baseline for categorizing regional water availability and risk levels.</a:t>
            </a:r>
          </a:p>
        </p:txBody>
      </p:sp>
      <p:pic>
        <p:nvPicPr>
          <p:cNvPr id="6" name="Picture 5">
            <a:extLst>
              <a:ext uri="{FF2B5EF4-FFF2-40B4-BE49-F238E27FC236}">
                <a16:creationId xmlns:a16="http://schemas.microsoft.com/office/drawing/2014/main" id="{5DE3704B-076F-0108-A5B5-DAB1CED5DE20}"/>
              </a:ext>
            </a:extLst>
          </p:cNvPr>
          <p:cNvPicPr>
            <a:picLocks noChangeAspect="1"/>
          </p:cNvPicPr>
          <p:nvPr/>
        </p:nvPicPr>
        <p:blipFill>
          <a:blip r:embed="rId3"/>
          <a:stretch>
            <a:fillRect/>
          </a:stretch>
        </p:blipFill>
        <p:spPr>
          <a:xfrm>
            <a:off x="208826" y="1183943"/>
            <a:ext cx="5887174" cy="4490113"/>
          </a:xfrm>
          <a:prstGeom prst="rect">
            <a:avLst/>
          </a:prstGeom>
        </p:spPr>
      </p:pic>
    </p:spTree>
    <p:extLst>
      <p:ext uri="{BB962C8B-B14F-4D97-AF65-F5344CB8AC3E}">
        <p14:creationId xmlns:p14="http://schemas.microsoft.com/office/powerpoint/2010/main" val="3205966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0">
                                            <p:txEl>
                                              <p:pRg st="2" end="2"/>
                                            </p:txEl>
                                          </p:spTgt>
                                        </p:tgtEl>
                                        <p:attrNameLst>
                                          <p:attrName>style.visibility</p:attrName>
                                        </p:attrNameLst>
                                      </p:cBhvr>
                                      <p:to>
                                        <p:strVal val="visible"/>
                                      </p:to>
                                    </p:set>
                                    <p:animEffect transition="in" filter="fade">
                                      <p:cBhvr>
                                        <p:cTn id="40" dur="1000"/>
                                        <p:tgtEl>
                                          <p:spTgt spid="10">
                                            <p:txEl>
                                              <p:pRg st="2" end="2"/>
                                            </p:txEl>
                                          </p:spTgt>
                                        </p:tgtEl>
                                      </p:cBhvr>
                                    </p:animEffect>
                                    <p:anim calcmode="lin" valueType="num">
                                      <p:cBhvr>
                                        <p:cTn id="41"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0">
                                            <p:txEl>
                                              <p:pRg st="3" end="3"/>
                                            </p:txEl>
                                          </p:spTgt>
                                        </p:tgtEl>
                                        <p:attrNameLst>
                                          <p:attrName>style.visibility</p:attrName>
                                        </p:attrNameLst>
                                      </p:cBhvr>
                                      <p:to>
                                        <p:strVal val="visible"/>
                                      </p:to>
                                    </p:set>
                                    <p:animEffect transition="in" filter="fade">
                                      <p:cBhvr>
                                        <p:cTn id="45" dur="1000"/>
                                        <p:tgtEl>
                                          <p:spTgt spid="10">
                                            <p:txEl>
                                              <p:pRg st="3" end="3"/>
                                            </p:txEl>
                                          </p:spTgt>
                                        </p:tgtEl>
                                      </p:cBhvr>
                                    </p:animEffect>
                                    <p:anim calcmode="lin" valueType="num">
                                      <p:cBhvr>
                                        <p:cTn id="46"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7"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0">
                                            <p:txEl>
                                              <p:pRg st="4" end="4"/>
                                            </p:txEl>
                                          </p:spTgt>
                                        </p:tgtEl>
                                        <p:attrNameLst>
                                          <p:attrName>style.visibility</p:attrName>
                                        </p:attrNameLst>
                                      </p:cBhvr>
                                      <p:to>
                                        <p:strVal val="visible"/>
                                      </p:to>
                                    </p:set>
                                    <p:animEffect transition="in" filter="fade">
                                      <p:cBhvr>
                                        <p:cTn id="52" dur="1000"/>
                                        <p:tgtEl>
                                          <p:spTgt spid="10">
                                            <p:txEl>
                                              <p:pRg st="4" end="4"/>
                                            </p:txEl>
                                          </p:spTgt>
                                        </p:tgtEl>
                                      </p:cBhvr>
                                    </p:animEffect>
                                    <p:anim calcmode="lin" valueType="num">
                                      <p:cBhvr>
                                        <p:cTn id="53"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4" dur="1000" fill="hold"/>
                                        <p:tgtEl>
                                          <p:spTgt spid="10">
                                            <p:txEl>
                                              <p:pRg st="4" end="4"/>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0">
                                            <p:txEl>
                                              <p:pRg st="5" end="5"/>
                                            </p:txEl>
                                          </p:spTgt>
                                        </p:tgtEl>
                                        <p:attrNameLst>
                                          <p:attrName>style.visibility</p:attrName>
                                        </p:attrNameLst>
                                      </p:cBhvr>
                                      <p:to>
                                        <p:strVal val="visible"/>
                                      </p:to>
                                    </p:set>
                                    <p:animEffect transition="in" filter="fade">
                                      <p:cBhvr>
                                        <p:cTn id="57" dur="1000"/>
                                        <p:tgtEl>
                                          <p:spTgt spid="10">
                                            <p:txEl>
                                              <p:pRg st="5" end="5"/>
                                            </p:txEl>
                                          </p:spTgt>
                                        </p:tgtEl>
                                      </p:cBhvr>
                                    </p:animEffect>
                                    <p:anim calcmode="lin" valueType="num">
                                      <p:cBhvr>
                                        <p:cTn id="58"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9" dur="1000" fill="hold"/>
                                        <p:tgtEl>
                                          <p:spTgt spid="10">
                                            <p:txEl>
                                              <p:pRg st="5" end="5"/>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xEl>
                                              <p:pRg st="6" end="6"/>
                                            </p:txEl>
                                          </p:spTgt>
                                        </p:tgtEl>
                                        <p:attrNameLst>
                                          <p:attrName>style.visibility</p:attrName>
                                        </p:attrNameLst>
                                      </p:cBhvr>
                                      <p:to>
                                        <p:strVal val="visible"/>
                                      </p:to>
                                    </p:set>
                                    <p:animEffect transition="in" filter="fade">
                                      <p:cBhvr>
                                        <p:cTn id="62" dur="1000"/>
                                        <p:tgtEl>
                                          <p:spTgt spid="10">
                                            <p:txEl>
                                              <p:pRg st="6" end="6"/>
                                            </p:txEl>
                                          </p:spTgt>
                                        </p:tgtEl>
                                      </p:cBhvr>
                                    </p:animEffect>
                                    <p:anim calcmode="lin" valueType="num">
                                      <p:cBhvr>
                                        <p:cTn id="63"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64"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6AFA15EA-714D-762E-5EE8-3F5A200482FF}"/>
              </a:ext>
            </a:extLst>
          </p:cNvPr>
          <p:cNvPicPr>
            <a:picLocks noChangeAspect="1"/>
          </p:cNvPicPr>
          <p:nvPr/>
        </p:nvPicPr>
        <p:blipFill>
          <a:blip r:embed="rId3"/>
          <a:stretch>
            <a:fillRect/>
          </a:stretch>
        </p:blipFill>
        <p:spPr>
          <a:xfrm>
            <a:off x="143561" y="1201586"/>
            <a:ext cx="5775018" cy="5098133"/>
          </a:xfrm>
          <a:prstGeom prst="rect">
            <a:avLst/>
          </a:prstGeom>
        </p:spPr>
      </p:pic>
      <p:sp>
        <p:nvSpPr>
          <p:cNvPr id="12" name="Rectangle 1">
            <a:extLst>
              <a:ext uri="{FF2B5EF4-FFF2-40B4-BE49-F238E27FC236}">
                <a16:creationId xmlns:a16="http://schemas.microsoft.com/office/drawing/2014/main" id="{37E279BB-AB3D-FF05-BC43-946B9910C19F}"/>
              </a:ext>
            </a:extLst>
          </p:cNvPr>
          <p:cNvSpPr>
            <a:spLocks noGrp="1" noChangeArrowheads="1"/>
          </p:cNvSpPr>
          <p:nvPr>
            <p:ph type="body" sz="quarter" idx="12"/>
          </p:nvPr>
        </p:nvSpPr>
        <p:spPr bwMode="auto">
          <a:xfrm>
            <a:off x="5424724" y="1050723"/>
            <a:ext cx="6446294"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Pair Plot of Environmental &amp; Performance Metrics by Season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Findings: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Distinct Seasonal Microclimates: Diagonal KDE density plots show clear seasonal separation—Rabi (teal) centers on lower temperatures (~23°C), Kharif (blue) peaks at high rainfall (~850 mm), and Zaid (green) forms a high-temperature (~31°C), low-rainfall (~300 mm) profile.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Strong Yield–Profit Correlation: The scatter plot at row 4, column 3 reveals a direct positive relationship between </a:t>
            </a:r>
            <a:r>
              <a:rPr kumimoji="0" lang="en-US" altLang="en-US" sz="1600" i="0" u="none" strike="noStrike" cap="none" normalizeH="0" baseline="0" dirty="0">
                <a:ln>
                  <a:noFill/>
                </a:ln>
                <a:solidFill>
                  <a:schemeClr val="tx1"/>
                </a:solidFill>
                <a:effectLst/>
                <a:latin typeface="Arial Unicode MS" panose="020B0604020202020204" pitchFamily="34" charset="-128"/>
              </a:rPr>
              <a:t>Yield </a:t>
            </a:r>
            <a:r>
              <a:rPr kumimoji="0" lang="en-US" altLang="en-US" sz="1600" i="0" u="none" strike="noStrike" cap="none" normalizeH="0" baseline="0" dirty="0" err="1">
                <a:ln>
                  <a:noFill/>
                </a:ln>
                <a:solidFill>
                  <a:schemeClr val="tx1"/>
                </a:solidFill>
                <a:effectLst/>
                <a:latin typeface="Arial Unicode MS" panose="020B0604020202020204" pitchFamily="34" charset="-128"/>
              </a:rPr>
              <a:t>Tonnes</a:t>
            </a:r>
            <a:r>
              <a:rPr kumimoji="0" lang="en-US" altLang="en-US" sz="1600" i="0" u="none" strike="noStrike" cap="none" normalizeH="0" baseline="0" dirty="0">
                <a:ln>
                  <a:noFill/>
                </a:ln>
                <a:solidFill>
                  <a:schemeClr val="tx1"/>
                </a:solidFill>
                <a:effectLst/>
                <a:latin typeface="Arial Unicode MS" panose="020B0604020202020204" pitchFamily="34" charset="-128"/>
              </a:rPr>
              <a:t> Ha</a:t>
            </a:r>
            <a:r>
              <a:rPr kumimoji="0" lang="en-US" altLang="en-US" sz="1600" i="0" u="none" strike="noStrike" cap="none" normalizeH="0" baseline="0" dirty="0">
                <a:ln>
                  <a:noFill/>
                </a:ln>
                <a:solidFill>
                  <a:schemeClr val="tx1"/>
                </a:solidFill>
                <a:effectLst/>
              </a:rPr>
              <a:t> and </a:t>
            </a:r>
            <a:r>
              <a:rPr kumimoji="0" lang="en-US" altLang="en-US" sz="1600" i="0" u="none" strike="noStrike" cap="none" normalizeH="0" baseline="0" dirty="0" err="1">
                <a:ln>
                  <a:noFill/>
                </a:ln>
                <a:solidFill>
                  <a:schemeClr val="tx1"/>
                </a:solidFill>
                <a:effectLst/>
                <a:latin typeface="Arial Unicode MS" panose="020B0604020202020204" pitchFamily="34" charset="-128"/>
              </a:rPr>
              <a:t>Profit_INR</a:t>
            </a:r>
            <a:r>
              <a:rPr kumimoji="0" lang="en-US" altLang="en-US" sz="1600" i="0" u="none" strike="noStrike" cap="none" normalizeH="0" baseline="0" dirty="0">
                <a:ln>
                  <a:noFill/>
                </a:ln>
                <a:solidFill>
                  <a:schemeClr val="tx1"/>
                </a:solidFill>
                <a:effectLst/>
              </a:rPr>
              <a:t> across all seasons, demonstrating that higher crop tonnage per hectare is the strongest driver of farm commercial success.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How It Helps the Project: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Provides a comprehensive 360-degree overview of how key environmental variables (</a:t>
            </a:r>
            <a:r>
              <a:rPr kumimoji="0" lang="en-US" altLang="en-US" sz="1600" b="0" i="0" u="none" strike="noStrike" cap="none" normalizeH="0" baseline="0" dirty="0">
                <a:ln>
                  <a:noFill/>
                </a:ln>
                <a:solidFill>
                  <a:schemeClr val="tx1"/>
                </a:solidFill>
                <a:effectLst/>
                <a:latin typeface="Arial Unicode MS" panose="020B0604020202020204" pitchFamily="34" charset="-128"/>
              </a:rPr>
              <a:t>Avg.</a:t>
            </a:r>
            <a:r>
              <a:rPr lang="en-US" altLang="en-US" sz="1600" dirty="0">
                <a:solidFill>
                  <a:schemeClr val="tx1"/>
                </a:solidFill>
                <a:latin typeface="Arial Unicode MS" panose="020B0604020202020204" pitchFamily="34" charset="-128"/>
              </a:rPr>
              <a:t> </a:t>
            </a:r>
            <a:r>
              <a:rPr kumimoji="0" lang="en-US" altLang="en-US" sz="1600" b="0" i="0" u="none" strike="noStrike" cap="none" normalizeH="0" baseline="0" dirty="0">
                <a:ln>
                  <a:noFill/>
                </a:ln>
                <a:solidFill>
                  <a:schemeClr val="tx1"/>
                </a:solidFill>
                <a:effectLst/>
                <a:latin typeface="Arial Unicode MS" panose="020B0604020202020204" pitchFamily="34" charset="-128"/>
              </a:rPr>
              <a:t>Temperature(C)</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panose="020B0604020202020204" pitchFamily="34" charset="-128"/>
              </a:rPr>
              <a:t>Rainfall(mm</a:t>
            </a:r>
            <a:r>
              <a:rPr kumimoji="0" lang="en-US" altLang="en-US" sz="1600" b="0" i="0" u="none" strike="noStrike" cap="none" normalizeH="0" baseline="0" dirty="0">
                <a:ln>
                  <a:noFill/>
                </a:ln>
                <a:solidFill>
                  <a:schemeClr val="tx1"/>
                </a:solidFill>
                <a:effectLst/>
              </a:rPr>
              <a:t>) simultaneously influence core agricultural outcomes (</a:t>
            </a:r>
            <a:r>
              <a:rPr kumimoji="0" lang="en-US" altLang="en-US" sz="1600" b="0" i="0" u="none" strike="noStrike" cap="none" normalizeH="0" baseline="0" dirty="0">
                <a:ln>
                  <a:noFill/>
                </a:ln>
                <a:solidFill>
                  <a:schemeClr val="tx1"/>
                </a:solidFill>
                <a:effectLst/>
                <a:latin typeface="Arial Unicode MS" panose="020B0604020202020204" pitchFamily="34" charset="-128"/>
              </a:rPr>
              <a:t>Yield  </a:t>
            </a:r>
            <a:r>
              <a:rPr kumimoji="0" lang="en-US" altLang="en-US" sz="1600" b="0" i="0" u="none" strike="noStrike" cap="none" normalizeH="0" baseline="0" dirty="0" err="1">
                <a:ln>
                  <a:noFill/>
                </a:ln>
                <a:solidFill>
                  <a:schemeClr val="tx1"/>
                </a:solidFill>
                <a:effectLst/>
                <a:latin typeface="Arial Unicode MS" panose="020B0604020202020204" pitchFamily="34" charset="-128"/>
              </a:rPr>
              <a:t>Tonnes</a:t>
            </a:r>
            <a:r>
              <a:rPr lang="en-US" altLang="en-US" sz="1600" dirty="0">
                <a:solidFill>
                  <a:schemeClr val="tx1"/>
                </a:solidFill>
                <a:latin typeface="Arial Unicode MS" panose="020B0604020202020204" pitchFamily="34" charset="-128"/>
              </a:rPr>
              <a:t> </a:t>
            </a:r>
            <a:r>
              <a:rPr kumimoji="0" lang="en-US" altLang="en-US" sz="1600" b="0" i="0" u="none" strike="noStrike" cap="none" normalizeH="0" baseline="0" dirty="0">
                <a:ln>
                  <a:noFill/>
                </a:ln>
                <a:solidFill>
                  <a:schemeClr val="tx1"/>
                </a:solidFill>
                <a:effectLst/>
                <a:latin typeface="Arial Unicode MS" panose="020B0604020202020204" pitchFamily="34" charset="-128"/>
              </a:rPr>
              <a:t>Ha</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panose="020B0604020202020204" pitchFamily="34" charset="-128"/>
              </a:rPr>
              <a:t>Profit INR</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Validates the need for season-specific crop management strategies by demonstrating that climatic conditions differ significantly across cropping cycles.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960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6FD07DAD-0FE4-442E-AD49-15CD34BE8FF5}"/>
              </a:ext>
            </a:extLst>
          </p:cNvPr>
          <p:cNvSpPr>
            <a:spLocks noGrp="1" noChangeArrowheads="1"/>
          </p:cNvSpPr>
          <p:nvPr>
            <p:ph type="body" sz="quarter" idx="12"/>
          </p:nvPr>
        </p:nvSpPr>
        <p:spPr bwMode="auto">
          <a:xfrm>
            <a:off x="423082" y="1353369"/>
            <a:ext cx="10235820" cy="5088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600" b="1" dirty="0">
                <a:solidFill>
                  <a:schemeClr val="tx1"/>
                </a:solidFill>
              </a:rPr>
              <a:t>1. Machine Learning &amp; Predictive Modeling</a:t>
            </a:r>
            <a:endParaRPr lang="en-US" sz="1600" dirty="0">
              <a:solidFill>
                <a:schemeClr val="tx1"/>
              </a:solidFill>
            </a:endParaRPr>
          </a:p>
          <a:p>
            <a:pPr algn="just">
              <a:buFont typeface="Arial" panose="020B0604020202020204" pitchFamily="34" charset="0"/>
              <a:buChar char="•"/>
            </a:pPr>
            <a:r>
              <a:rPr lang="en-US" sz="1600" b="1" dirty="0">
                <a:solidFill>
                  <a:schemeClr val="tx1"/>
                </a:solidFill>
              </a:rPr>
              <a:t>Yield &amp; Profit Forecasting:</a:t>
            </a:r>
            <a:r>
              <a:rPr lang="en-US" sz="1600" dirty="0">
                <a:solidFill>
                  <a:schemeClr val="tx1"/>
                </a:solidFill>
              </a:rPr>
              <a:t> Train supervised machine learning regression models (e.g., Random Forest, </a:t>
            </a:r>
            <a:r>
              <a:rPr lang="en-US" sz="1600" dirty="0" err="1">
                <a:solidFill>
                  <a:schemeClr val="tx1"/>
                </a:solidFill>
              </a:rPr>
              <a:t>XGBoost</a:t>
            </a:r>
            <a:r>
              <a:rPr lang="en-US" sz="1600" dirty="0">
                <a:solidFill>
                  <a:schemeClr val="tx1"/>
                </a:solidFill>
              </a:rPr>
              <a:t>) to predict farm yield and net profit before planting based on early seasonal climate forecasts.</a:t>
            </a:r>
          </a:p>
          <a:p>
            <a:pPr algn="just">
              <a:buFont typeface="Arial" panose="020B0604020202020204" pitchFamily="34" charset="0"/>
              <a:buChar char="•"/>
            </a:pPr>
            <a:r>
              <a:rPr lang="en-US" sz="1600" b="1" dirty="0">
                <a:solidFill>
                  <a:schemeClr val="tx1"/>
                </a:solidFill>
              </a:rPr>
              <a:t>Optimal Crop Recommendation Engine:</a:t>
            </a:r>
            <a:r>
              <a:rPr lang="en-US" sz="1600" dirty="0">
                <a:solidFill>
                  <a:schemeClr val="tx1"/>
                </a:solidFill>
              </a:rPr>
              <a:t> Build a classification model that recommends the most suitable crop variety for a given farm based on local soil pH, expected rainfall, and historical regional pricing.</a:t>
            </a:r>
          </a:p>
          <a:p>
            <a:pPr algn="just"/>
            <a:r>
              <a:rPr lang="en-US" sz="1600" b="1" dirty="0">
                <a:solidFill>
                  <a:schemeClr val="tx1"/>
                </a:solidFill>
              </a:rPr>
              <a:t>2. Integration of Real-Time Geospatial &amp; Remote Sensing Data</a:t>
            </a:r>
            <a:endParaRPr lang="en-US" sz="1600" dirty="0">
              <a:solidFill>
                <a:schemeClr val="tx1"/>
              </a:solidFill>
            </a:endParaRPr>
          </a:p>
          <a:p>
            <a:pPr algn="just">
              <a:buFont typeface="Arial" panose="020B0604020202020204" pitchFamily="34" charset="0"/>
              <a:buChar char="•"/>
            </a:pPr>
            <a:r>
              <a:rPr lang="en-US" sz="1600" dirty="0">
                <a:solidFill>
                  <a:schemeClr val="tx1"/>
                </a:solidFill>
              </a:rPr>
              <a:t>Incorporate Satellite Imagery (e.g., NDVI - Normalized Difference Vegetation Index) and real-time IoT soil sensor data to monitor crop health, soil moisture, and evapotranspiration live during the season.</a:t>
            </a:r>
          </a:p>
          <a:p>
            <a:pPr algn="just"/>
            <a:r>
              <a:rPr lang="en-US" sz="1600" b="1" dirty="0">
                <a:solidFill>
                  <a:schemeClr val="tx1"/>
                </a:solidFill>
              </a:rPr>
              <a:t>3. Climate Change Risk &amp; Scenario Analysis</a:t>
            </a:r>
            <a:endParaRPr lang="en-US" sz="1600" dirty="0">
              <a:solidFill>
                <a:schemeClr val="tx1"/>
              </a:solidFill>
            </a:endParaRPr>
          </a:p>
          <a:p>
            <a:pPr algn="just">
              <a:buFont typeface="Arial" panose="020B0604020202020204" pitchFamily="34" charset="0"/>
              <a:buChar char="•"/>
            </a:pPr>
            <a:r>
              <a:rPr lang="en-US" sz="1600" dirty="0">
                <a:solidFill>
                  <a:schemeClr val="tx1"/>
                </a:solidFill>
              </a:rPr>
              <a:t>Perform predictive stress testing to model the impact of rising global temperatures (+1.5°C to +2.0°C) and erratic monsoon patterns on regional agricultural productivity and farm economic viability over the next decade.</a:t>
            </a:r>
          </a:p>
          <a:p>
            <a:pPr algn="just"/>
            <a:r>
              <a:rPr lang="en-US" sz="1600" b="1" dirty="0">
                <a:solidFill>
                  <a:schemeClr val="tx1"/>
                </a:solidFill>
              </a:rPr>
              <a:t>4. Interactive Dashboard &amp; Farmer Advisory Platform</a:t>
            </a:r>
            <a:endParaRPr lang="en-US" sz="1600" dirty="0">
              <a:solidFill>
                <a:schemeClr val="tx1"/>
              </a:solidFill>
            </a:endParaRPr>
          </a:p>
          <a:p>
            <a:pPr algn="just">
              <a:buFont typeface="Arial" panose="020B0604020202020204" pitchFamily="34" charset="0"/>
              <a:buChar char="•"/>
            </a:pPr>
            <a:r>
              <a:rPr lang="en-US" sz="1600" dirty="0">
                <a:solidFill>
                  <a:schemeClr val="tx1"/>
                </a:solidFill>
              </a:rPr>
              <a:t>Deploy the analytical insights into an interactive web/mobile dashboard (using </a:t>
            </a:r>
            <a:r>
              <a:rPr lang="en-US" sz="1600" dirty="0" err="1">
                <a:solidFill>
                  <a:schemeClr val="tx1"/>
                </a:solidFill>
              </a:rPr>
              <a:t>Streamlit</a:t>
            </a:r>
            <a:r>
              <a:rPr lang="en-US" sz="1600" dirty="0">
                <a:solidFill>
                  <a:schemeClr val="tx1"/>
                </a:solidFill>
              </a:rPr>
              <a:t>, Dash, or Power BI) to provide actionable advisory reports directly to farmers and extension officers.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6" y="370589"/>
            <a:ext cx="5420043" cy="1021483"/>
          </a:xfrm>
        </p:spPr>
        <p:txBody>
          <a:bodyPr>
            <a:normAutofit/>
          </a:bodyPr>
          <a:lstStyle/>
          <a:p>
            <a:r>
              <a:rPr lang="en-IN"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6" y="1192017"/>
            <a:ext cx="9800520" cy="400110"/>
          </a:xfrm>
          <a:prstGeom prst="rect">
            <a:avLst/>
          </a:prstGeom>
          <a:noFill/>
        </p:spPr>
        <p:txBody>
          <a:bodyPr wrap="square">
            <a:spAutoFit/>
          </a:bodyPr>
          <a:lstStyle/>
          <a:p>
            <a:r>
              <a:rPr lang="en-US" sz="2000" dirty="0"/>
              <a:t>https://github.com/HarsheetHCP/Seasonal_Agriculture_Performance_Analysis.git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4D71D3D-599E-EFCF-36EC-DC237B4987AA}"/>
              </a:ext>
            </a:extLst>
          </p:cNvPr>
          <p:cNvPicPr>
            <a:picLocks noChangeAspect="1"/>
          </p:cNvPicPr>
          <p:nvPr/>
        </p:nvPicPr>
        <p:blipFill>
          <a:blip r:embed="rId3"/>
          <a:stretch>
            <a:fillRect/>
          </a:stretch>
        </p:blipFill>
        <p:spPr>
          <a:xfrm>
            <a:off x="705754" y="1419813"/>
            <a:ext cx="7279880" cy="514862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1107440"/>
            <a:ext cx="11340000" cy="2321560"/>
          </a:xfrm>
          <a:prstGeom prst="rect">
            <a:avLst/>
          </a:prstGeom>
        </p:spPr>
        <p:txBody>
          <a:bodyPr anchor="ctr">
            <a:noAutofit/>
          </a:bodyPr>
          <a:lstStyle/>
          <a:p>
            <a:pPr algn="ctr"/>
            <a:r>
              <a:rPr lang="en-US" sz="13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1435</TotalTime>
  <Words>1671</Words>
  <Application>Microsoft Office PowerPoint</Application>
  <PresentationFormat>Widescreen</PresentationFormat>
  <Paragraphs>105</Paragraphs>
  <Slides>16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 Unicode MS</vt:lpstr>
      <vt:lpstr>Arial</vt:lpstr>
      <vt:lpstr>Calibri</vt:lpstr>
      <vt:lpstr>Google Sans Text</vt:lpstr>
      <vt:lpstr>Trebuchet MS</vt:lpstr>
      <vt:lpstr>Wingdings</vt:lpstr>
      <vt:lpstr>Wingdings 3</vt:lpstr>
      <vt:lpstr>Facet</vt:lpstr>
      <vt:lpstr>Project Title - Seasonal Agriculture Performance Analysis</vt:lpstr>
      <vt:lpstr>PROBLEM  STATEMENT</vt:lpstr>
      <vt:lpstr>Project Description  Title: Seasonal Agriculture Performance Analysis Domain: Agricultural Data Analytics  Overview: This project delivers a comprehensive, data-driven investigation into how agricultural performance—spanning crop productivity, financial returns, resource consumption, and environmental risks—varies across Kharif, Rabi, and Zaid farming seasons. Utilizing a farm-level dataset of 4,000 observations across 8 major agricultural states, the analysis evaluates key seasonal patterns to provide evidence-based insights for optimizing seasonal farm management.   Key Project Highlights: Data Cleaning &amp; Imputation: Addressed missing values across environmental and yield parameters using group-wise median imputation based on season and crop types.  Statistical &amp; Visual Analytics: Conducted rigorous univariate, bivariate, and multivariate analysis to identify core drivers of yield and profitability.  Core Findings: Highlighted peak productivity in Kharif driven by monsoonal rainfall (5.63 Tonnes/Ha), identified seasonal losses in off-season Zaid farming (-₹24,804.82 average profit), and established the superior efficiency of drip irrigation (6.27 t / 1000m³) over flood irrigation.  Actionable Outcomes: Derived 8 structured insights and provided practical recommendations for micro-irrigation adoption, pest forecasting, and season-specific crop planning. </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Harsheet Chander Pal</cp:lastModifiedBy>
  <cp:revision>102</cp:revision>
  <dcterms:created xsi:type="dcterms:W3CDTF">2021-07-11T13:13:15Z</dcterms:created>
  <dcterms:modified xsi:type="dcterms:W3CDTF">2026-09-17T13:38:59Z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